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9507200" cy="10972800"/>
  <p:notesSz cx="10972800" cy="14630400"/>
  <p:embeddedFontLst>
    <p:embeddedFont>
      <p:font typeface="Inter" panose="02000503000000020004" pitchFamily="2" charset="0"/>
      <p:regular r:id="rId13"/>
      <p:bold r:id="rId14"/>
    </p:embeddedFont>
    <p:embeddedFont>
      <p:font typeface="Inter Bold" panose="02000503000000020004" pitchFamily="2" charset="0"/>
      <p:bold r:id="rId15"/>
    </p:embeddedFont>
    <p:embeddedFont>
      <p:font typeface="Inter Light" panose="02000503000000020004" pitchFamily="2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706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086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1795781"/>
            <a:ext cx="14630400" cy="3820160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763261"/>
            <a:ext cx="14630400" cy="2649219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388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58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960" y="2735582"/>
            <a:ext cx="16824960" cy="4564379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960" y="7343142"/>
            <a:ext cx="16824960" cy="2400299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994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2921000"/>
            <a:ext cx="8290560" cy="69621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75520" y="2921000"/>
            <a:ext cx="8290560" cy="69621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8503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584201"/>
            <a:ext cx="16824960" cy="212090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662" y="2689861"/>
            <a:ext cx="8252459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3662" y="4008120"/>
            <a:ext cx="8252459" cy="58953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75520" y="2689861"/>
            <a:ext cx="8293101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75520" y="4008120"/>
            <a:ext cx="8293101" cy="58953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9568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6416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78928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2" y="731520"/>
            <a:ext cx="6291579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3101" y="1579881"/>
            <a:ext cx="9875520" cy="7797800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2" y="3291840"/>
            <a:ext cx="6291579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016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2" y="731520"/>
            <a:ext cx="6291579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93101" y="1579881"/>
            <a:ext cx="9875520" cy="7797800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2" y="3291840"/>
            <a:ext cx="6291579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8130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6317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9840" y="584200"/>
            <a:ext cx="4206240" cy="929894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1120" y="584200"/>
            <a:ext cx="12374880" cy="929894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5623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31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260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522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759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74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020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7138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841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0116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89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584201"/>
            <a:ext cx="1682496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2921000"/>
            <a:ext cx="1682496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1120" y="10170161"/>
            <a:ext cx="438912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61760" y="10170161"/>
            <a:ext cx="65836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76960" y="10170161"/>
            <a:ext cx="438912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32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-1454046"/>
            <a:ext cx="7315200" cy="1463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8387" y="2502693"/>
            <a:ext cx="6615748" cy="826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467"/>
              </a:lnSpc>
            </a:pPr>
            <a:r>
              <a:rPr lang="en-US" sz="5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SCORMIFY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1058387" y="3726339"/>
            <a:ext cx="10075228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 suas apresentações PowerPoint em experiências de aprendizagem interativas com pacotes SCORM 1.2 completos.</a:t>
            </a:r>
            <a:endParaRPr lang="en-US" sz="2067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414" y="5042377"/>
            <a:ext cx="8619013" cy="31754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387" y="194945"/>
            <a:ext cx="3063557" cy="497523"/>
          </a:xfrm>
          <a:prstGeom prst="roundRect">
            <a:avLst>
              <a:gd name="adj" fmla="val 2451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3" name="Text 1"/>
          <p:cNvSpPr/>
          <p:nvPr/>
        </p:nvSpPr>
        <p:spPr>
          <a:xfrm>
            <a:off x="1217137" y="274321"/>
            <a:ext cx="2746057" cy="338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67"/>
              </a:lnSpc>
            </a:pPr>
            <a:r>
              <a:rPr lang="en-US" sz="16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CONVERSÃO INTELIGENTE</a:t>
            </a:r>
            <a:endParaRPr lang="en-US" sz="1667" dirty="0"/>
          </a:p>
        </p:txBody>
      </p:sp>
      <p:sp>
        <p:nvSpPr>
          <p:cNvPr id="4" name="Text 2"/>
          <p:cNvSpPr/>
          <p:nvPr/>
        </p:nvSpPr>
        <p:spPr>
          <a:xfrm>
            <a:off x="1058387" y="798195"/>
            <a:ext cx="10397967" cy="826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467"/>
              </a:lnSpc>
            </a:pPr>
            <a:r>
              <a:rPr lang="en-US" sz="5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Upload e Conversão Automática</a:t>
            </a:r>
            <a:endParaRPr lang="en-US" sz="5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87" y="2319497"/>
            <a:ext cx="11077733" cy="62772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91758" y="4399597"/>
            <a:ext cx="5667057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Faça upload de arquivos PPT ou PPTX e deixe o SCORMIFY fazer o trabalho pesado. A conversão automática preserva o layout visual original enquanto otimiza o desempenho.</a:t>
            </a:r>
            <a:endParaRPr lang="en-US" sz="2067" dirty="0"/>
          </a:p>
        </p:txBody>
      </p:sp>
      <p:sp>
        <p:nvSpPr>
          <p:cNvPr id="7" name="Shape 4"/>
          <p:cNvSpPr/>
          <p:nvPr/>
        </p:nvSpPr>
        <p:spPr>
          <a:xfrm>
            <a:off x="1058387" y="9192101"/>
            <a:ext cx="8562975" cy="1585595"/>
          </a:xfrm>
          <a:prstGeom prst="roundRect">
            <a:avLst>
              <a:gd name="adj" fmla="val 769"/>
            </a:avLst>
          </a:prstGeom>
          <a:solidFill>
            <a:srgbClr val="304755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5"/>
          <p:cNvSpPr/>
          <p:nvPr/>
        </p:nvSpPr>
        <p:spPr>
          <a:xfrm>
            <a:off x="1353345" y="9487059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Alta Fidelidade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353345" y="10059352"/>
            <a:ext cx="7973060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Preservação completa do design original</a:t>
            </a:r>
            <a:endParaRPr lang="en-US" sz="2067" dirty="0"/>
          </a:p>
        </p:txBody>
      </p:sp>
      <p:sp>
        <p:nvSpPr>
          <p:cNvPr id="10" name="Shape 7"/>
          <p:cNvSpPr/>
          <p:nvPr/>
        </p:nvSpPr>
        <p:spPr>
          <a:xfrm>
            <a:off x="9885839" y="9192101"/>
            <a:ext cx="8562975" cy="1585595"/>
          </a:xfrm>
          <a:prstGeom prst="roundRect">
            <a:avLst>
              <a:gd name="adj" fmla="val 769"/>
            </a:avLst>
          </a:prstGeom>
          <a:solidFill>
            <a:srgbClr val="304755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1" name="Text 8"/>
          <p:cNvSpPr/>
          <p:nvPr/>
        </p:nvSpPr>
        <p:spPr>
          <a:xfrm>
            <a:off x="10180797" y="9487059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Otimização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0180797" y="10059352"/>
            <a:ext cx="7973060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de até 96% no tamanho dos arquivos</a:t>
            </a:r>
            <a:endParaRPr lang="en-US" sz="20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387" y="1939608"/>
            <a:ext cx="2355215" cy="538163"/>
          </a:xfrm>
          <a:prstGeom prst="roundRect">
            <a:avLst>
              <a:gd name="adj" fmla="val 2265"/>
            </a:avLst>
          </a:prstGeom>
          <a:noFill/>
          <a:ln w="15240">
            <a:solidFill>
              <a:srgbClr val="0A988B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" name="Text 1"/>
          <p:cNvSpPr/>
          <p:nvPr/>
        </p:nvSpPr>
        <p:spPr>
          <a:xfrm>
            <a:off x="1237456" y="2039303"/>
            <a:ext cx="1997075" cy="338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67"/>
              </a:lnSpc>
            </a:pPr>
            <a:r>
              <a:rPr lang="en-US" sz="1667" dirty="0">
                <a:solidFill>
                  <a:srgbClr val="0A98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 PODEROSO</a:t>
            </a:r>
            <a:endParaRPr lang="en-US" sz="1667" dirty="0"/>
          </a:p>
        </p:txBody>
      </p:sp>
      <p:sp>
        <p:nvSpPr>
          <p:cNvPr id="4" name="Text 2"/>
          <p:cNvSpPr/>
          <p:nvPr/>
        </p:nvSpPr>
        <p:spPr>
          <a:xfrm>
            <a:off x="1058387" y="2583497"/>
            <a:ext cx="8669179" cy="826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467"/>
              </a:lnSpc>
            </a:pPr>
            <a:r>
              <a:rPr lang="en-US" sz="5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Gestão Completa de Slides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58387" y="3807143"/>
            <a:ext cx="17390428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total sobre sua apresentação com ferramentas intuitivas de edição e organização.</a:t>
            </a:r>
            <a:endParaRPr lang="en-US" sz="206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8387" y="4528186"/>
            <a:ext cx="661511" cy="6615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8388" y="5520372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Criar Slides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58387" y="6092667"/>
            <a:ext cx="8529796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Adicione slides em branco para expandir seu conteúdo</a:t>
            </a:r>
            <a:endParaRPr lang="en-US" sz="2067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8859" y="4528186"/>
            <a:ext cx="661511" cy="6615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918860" y="5520372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Duplicar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9918859" y="6092667"/>
            <a:ext cx="8529955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slides existentes rapidamente</a:t>
            </a:r>
            <a:endParaRPr lang="en-US" sz="206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8387" y="7045167"/>
            <a:ext cx="661511" cy="6615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8388" y="8037353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Excluir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1058387" y="8609648"/>
            <a:ext cx="8529796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Remova slides desnecessários</a:t>
            </a:r>
            <a:endParaRPr lang="en-US" sz="2067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18859" y="7045167"/>
            <a:ext cx="661511" cy="66151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918860" y="8037353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Reordenar</a:t>
            </a:r>
            <a:endParaRPr lang="en-US" sz="2600" dirty="0"/>
          </a:p>
        </p:txBody>
      </p:sp>
      <p:sp>
        <p:nvSpPr>
          <p:cNvPr id="17" name="Text 11"/>
          <p:cNvSpPr/>
          <p:nvPr/>
        </p:nvSpPr>
        <p:spPr>
          <a:xfrm>
            <a:off x="9918859" y="8609648"/>
            <a:ext cx="8529955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Arraste e solte para reorganizar</a:t>
            </a:r>
            <a:endParaRPr lang="en-US" sz="20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388" y="1705769"/>
            <a:ext cx="10314305" cy="826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467"/>
              </a:lnSpc>
            </a:pPr>
            <a:r>
              <a:rPr lang="en-US" sz="5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Elementos Interativos Ilimitados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058387" y="3061653"/>
            <a:ext cx="17390428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Enriqueça suas apresentações com uma variedade de mídias e elementos interativos que transformam slides estáticos em experiências dinâmicas de aprendizagem.</a:t>
            </a:r>
            <a:endParaRPr lang="en-US" sz="206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88" y="4206082"/>
            <a:ext cx="1439545" cy="14395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28608" y="4206081"/>
            <a:ext cx="2329339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Imagens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828608" y="4778376"/>
            <a:ext cx="2329339" cy="1693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com compressão automática para otimização</a:t>
            </a:r>
            <a:endParaRPr lang="en-US" sz="2067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624" y="4206082"/>
            <a:ext cx="1439545" cy="14395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58844" y="4206081"/>
            <a:ext cx="2329339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Vídeos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7258844" y="4778375"/>
            <a:ext cx="2329339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YouTube, Vimeo ou arquivos locais</a:t>
            </a:r>
            <a:endParaRPr lang="en-US" sz="206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8860" y="4206082"/>
            <a:ext cx="1439545" cy="14395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689080" y="4206081"/>
            <a:ext cx="2329339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Áudios</a:t>
            </a:r>
            <a:endParaRPr lang="en-US" sz="2600" dirty="0"/>
          </a:p>
        </p:txBody>
      </p:sp>
      <p:sp>
        <p:nvSpPr>
          <p:cNvPr id="12" name="Text 7"/>
          <p:cNvSpPr/>
          <p:nvPr/>
        </p:nvSpPr>
        <p:spPr>
          <a:xfrm>
            <a:off x="11689080" y="4778375"/>
            <a:ext cx="2329339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para MP3, WAV e OGG</a:t>
            </a:r>
            <a:endParaRPr lang="en-US" sz="2067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9095" y="4206081"/>
            <a:ext cx="1439704" cy="14397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119475" y="4206081"/>
            <a:ext cx="2329339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Botões</a:t>
            </a:r>
            <a:endParaRPr lang="en-US" sz="2600" dirty="0"/>
          </a:p>
        </p:txBody>
      </p:sp>
      <p:sp>
        <p:nvSpPr>
          <p:cNvPr id="15" name="Text 9"/>
          <p:cNvSpPr/>
          <p:nvPr/>
        </p:nvSpPr>
        <p:spPr>
          <a:xfrm>
            <a:off x="16119475" y="4778375"/>
            <a:ext cx="232933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externos com estilos personalizáveis</a:t>
            </a:r>
            <a:endParaRPr lang="en-US" sz="2067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388" y="7001034"/>
            <a:ext cx="1439545" cy="143954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828608" y="7001033"/>
            <a:ext cx="2329339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</a:t>
            </a:r>
            <a:endParaRPr lang="en-US" sz="2600" dirty="0"/>
          </a:p>
        </p:txBody>
      </p:sp>
      <p:sp>
        <p:nvSpPr>
          <p:cNvPr id="18" name="Text 11"/>
          <p:cNvSpPr/>
          <p:nvPr/>
        </p:nvSpPr>
        <p:spPr>
          <a:xfrm>
            <a:off x="2828608" y="7573329"/>
            <a:ext cx="2329339" cy="1693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customizado para funcionalidades avançadas</a:t>
            </a:r>
            <a:endParaRPr lang="en-US" sz="2067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8624" y="7001034"/>
            <a:ext cx="1439545" cy="143954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258844" y="7001033"/>
            <a:ext cx="2329339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Flipbook</a:t>
            </a:r>
            <a:endParaRPr lang="en-US" sz="2600" dirty="0"/>
          </a:p>
        </p:txBody>
      </p:sp>
      <p:sp>
        <p:nvSpPr>
          <p:cNvPr id="21" name="Text 13"/>
          <p:cNvSpPr/>
          <p:nvPr/>
        </p:nvSpPr>
        <p:spPr>
          <a:xfrm>
            <a:off x="7258844" y="7573329"/>
            <a:ext cx="2329339" cy="1693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via URL para conteúdo paginado</a:t>
            </a:r>
            <a:endParaRPr lang="en-US" sz="20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-1828800"/>
            <a:ext cx="7315200" cy="14630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5278" y="1336470"/>
            <a:ext cx="6719729" cy="75598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8387" y="415479"/>
            <a:ext cx="6522085" cy="74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00"/>
              </a:lnSpc>
            </a:pPr>
            <a:r>
              <a:rPr lang="en-US" sz="46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Avatar IA com HeyGen</a:t>
            </a:r>
            <a:endParaRPr lang="en-US" sz="4667" dirty="0"/>
          </a:p>
        </p:txBody>
      </p:sp>
      <p:sp>
        <p:nvSpPr>
          <p:cNvPr id="5" name="Text 1"/>
          <p:cNvSpPr/>
          <p:nvPr/>
        </p:nvSpPr>
        <p:spPr>
          <a:xfrm>
            <a:off x="1058387" y="1481166"/>
            <a:ext cx="10075228" cy="108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8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 vídeos profissionais com avatares realistas que narram seu conteúdo. A integração com HeyGen permite gerar apresentadores virtuais com vozes naturais em português e outros idiomas.</a:t>
            </a:r>
            <a:endParaRPr lang="en-US" sz="1867" dirty="0"/>
          </a:p>
        </p:txBody>
      </p:sp>
      <p:sp>
        <p:nvSpPr>
          <p:cNvPr id="6" name="Text 2"/>
          <p:cNvSpPr/>
          <p:nvPr/>
        </p:nvSpPr>
        <p:spPr>
          <a:xfrm>
            <a:off x="1058387" y="370756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867" dirty="0">
                <a:solidFill>
                  <a:srgbClr val="CAD6D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867" dirty="0"/>
          </a:p>
        </p:txBody>
      </p:sp>
      <p:sp>
        <p:nvSpPr>
          <p:cNvPr id="7" name="Shape 3"/>
          <p:cNvSpPr/>
          <p:nvPr/>
        </p:nvSpPr>
        <p:spPr>
          <a:xfrm>
            <a:off x="1058387" y="3467301"/>
            <a:ext cx="10075228" cy="3048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8" name="Text 4"/>
          <p:cNvSpPr/>
          <p:nvPr/>
        </p:nvSpPr>
        <p:spPr>
          <a:xfrm>
            <a:off x="1058387" y="4261917"/>
            <a:ext cx="2977039" cy="371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67"/>
              </a:lnSpc>
            </a:pPr>
            <a:r>
              <a:rPr lang="en-US" sz="2333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Selecione o Avatar</a:t>
            </a:r>
            <a:endParaRPr lang="en-US" sz="2333" dirty="0"/>
          </a:p>
        </p:txBody>
      </p:sp>
      <p:sp>
        <p:nvSpPr>
          <p:cNvPr id="9" name="Text 5"/>
          <p:cNvSpPr/>
          <p:nvPr/>
        </p:nvSpPr>
        <p:spPr>
          <a:xfrm>
            <a:off x="1058387" y="3023606"/>
            <a:ext cx="10075228" cy="361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400" b="1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Escolha entre </a:t>
            </a:r>
            <a:r>
              <a:rPr lang="en-US" sz="2400" b="1" dirty="0">
                <a:solidFill>
                  <a:srgbClr val="CAD6DE"/>
                </a:solidFill>
                <a:latin typeface="Inter Bold" panose="02000503000000020004" pitchFamily="2" charset="0"/>
                <a:ea typeface="Inter Bold" panose="02000503000000020004" pitchFamily="2" charset="0"/>
                <a:cs typeface="Inter" pitchFamily="34" charset="-120"/>
              </a:rPr>
              <a:t>diversos</a:t>
            </a:r>
            <a:r>
              <a:rPr lang="en-US" sz="2400" b="1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avatares disponíveis</a:t>
            </a:r>
            <a:endParaRPr lang="en-US" sz="2400" b="1" dirty="0"/>
          </a:p>
        </p:txBody>
      </p:sp>
      <p:sp>
        <p:nvSpPr>
          <p:cNvPr id="10" name="Text 6"/>
          <p:cNvSpPr/>
          <p:nvPr/>
        </p:nvSpPr>
        <p:spPr>
          <a:xfrm>
            <a:off x="1058387" y="551731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867" dirty="0">
                <a:solidFill>
                  <a:srgbClr val="CAD6D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867" dirty="0"/>
          </a:p>
        </p:txBody>
      </p:sp>
      <p:sp>
        <p:nvSpPr>
          <p:cNvPr id="11" name="Shape 7"/>
          <p:cNvSpPr/>
          <p:nvPr/>
        </p:nvSpPr>
        <p:spPr>
          <a:xfrm>
            <a:off x="1058387" y="4692435"/>
            <a:ext cx="10075228" cy="3048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8"/>
          <p:cNvSpPr/>
          <p:nvPr/>
        </p:nvSpPr>
        <p:spPr>
          <a:xfrm>
            <a:off x="1058387" y="6071667"/>
            <a:ext cx="2977039" cy="371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67"/>
              </a:lnSpc>
            </a:pPr>
            <a:r>
              <a:rPr lang="en-US" sz="2333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Configure a Voz</a:t>
            </a:r>
            <a:endParaRPr lang="en-US" sz="2333" dirty="0"/>
          </a:p>
        </p:txBody>
      </p:sp>
      <p:sp>
        <p:nvSpPr>
          <p:cNvPr id="13" name="Text 9"/>
          <p:cNvSpPr/>
          <p:nvPr/>
        </p:nvSpPr>
        <p:spPr>
          <a:xfrm>
            <a:off x="1058387" y="4833355"/>
            <a:ext cx="10075228" cy="361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8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Selecione idioma e estilo de narração</a:t>
            </a:r>
            <a:endParaRPr lang="en-US" sz="1867" dirty="0"/>
          </a:p>
        </p:txBody>
      </p:sp>
      <p:sp>
        <p:nvSpPr>
          <p:cNvPr id="14" name="Text 10"/>
          <p:cNvSpPr/>
          <p:nvPr/>
        </p:nvSpPr>
        <p:spPr>
          <a:xfrm>
            <a:off x="1058387" y="732706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867" dirty="0">
                <a:solidFill>
                  <a:srgbClr val="CAD6D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867" dirty="0"/>
          </a:p>
        </p:txBody>
      </p:sp>
      <p:sp>
        <p:nvSpPr>
          <p:cNvPr id="15" name="Shape 11"/>
          <p:cNvSpPr/>
          <p:nvPr/>
        </p:nvSpPr>
        <p:spPr>
          <a:xfrm>
            <a:off x="1058387" y="6502184"/>
            <a:ext cx="10075228" cy="3048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6" name="Text 12"/>
          <p:cNvSpPr/>
          <p:nvPr/>
        </p:nvSpPr>
        <p:spPr>
          <a:xfrm>
            <a:off x="1058387" y="7881417"/>
            <a:ext cx="2977039" cy="371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67"/>
              </a:lnSpc>
            </a:pPr>
            <a:r>
              <a:rPr lang="en-US" sz="2333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Gere o Script</a:t>
            </a:r>
            <a:endParaRPr lang="en-US" sz="2333" dirty="0"/>
          </a:p>
        </p:txBody>
      </p:sp>
      <p:sp>
        <p:nvSpPr>
          <p:cNvPr id="17" name="Text 13"/>
          <p:cNvSpPr/>
          <p:nvPr/>
        </p:nvSpPr>
        <p:spPr>
          <a:xfrm>
            <a:off x="1058387" y="6643106"/>
            <a:ext cx="6522085" cy="26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8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IA para criar roteiros automaticamente</a:t>
            </a:r>
            <a:endParaRPr lang="en-US" sz="1867" dirty="0"/>
          </a:p>
        </p:txBody>
      </p:sp>
      <p:sp>
        <p:nvSpPr>
          <p:cNvPr id="18" name="Text 14"/>
          <p:cNvSpPr/>
          <p:nvPr/>
        </p:nvSpPr>
        <p:spPr>
          <a:xfrm>
            <a:off x="1058387" y="913681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867" dirty="0">
                <a:solidFill>
                  <a:srgbClr val="CAD6D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867" dirty="0"/>
          </a:p>
        </p:txBody>
      </p:sp>
      <p:sp>
        <p:nvSpPr>
          <p:cNvPr id="19" name="Shape 15"/>
          <p:cNvSpPr/>
          <p:nvPr/>
        </p:nvSpPr>
        <p:spPr>
          <a:xfrm>
            <a:off x="1058387" y="8266963"/>
            <a:ext cx="10075228" cy="3048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20" name="Text 16"/>
          <p:cNvSpPr/>
          <p:nvPr/>
        </p:nvSpPr>
        <p:spPr>
          <a:xfrm>
            <a:off x="1058387" y="9691167"/>
            <a:ext cx="2977039" cy="371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67"/>
              </a:lnSpc>
            </a:pPr>
            <a:r>
              <a:rPr lang="en-US" sz="2333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Integre ao Slide</a:t>
            </a:r>
            <a:endParaRPr lang="en-US" sz="2333" dirty="0"/>
          </a:p>
        </p:txBody>
      </p:sp>
      <p:sp>
        <p:nvSpPr>
          <p:cNvPr id="21" name="Text 17"/>
          <p:cNvSpPr/>
          <p:nvPr/>
        </p:nvSpPr>
        <p:spPr>
          <a:xfrm>
            <a:off x="1058387" y="8452855"/>
            <a:ext cx="7456026" cy="370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8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Fundo transparente para sobreposição perfeita</a:t>
            </a:r>
            <a:endParaRPr lang="en-US" sz="18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387" y="2451735"/>
            <a:ext cx="3325495" cy="497523"/>
          </a:xfrm>
          <a:prstGeom prst="roundRect">
            <a:avLst>
              <a:gd name="adj" fmla="val 2451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pt-BR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7136" y="2594611"/>
            <a:ext cx="211613" cy="211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4478" y="2531111"/>
            <a:ext cx="2690653" cy="338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67"/>
              </a:lnSpc>
            </a:pPr>
            <a:r>
              <a:rPr lang="en-US" sz="16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FERRAMENTAS CRIATIVAS</a:t>
            </a:r>
            <a:endParaRPr lang="en-US" sz="1667" dirty="0"/>
          </a:p>
        </p:txBody>
      </p:sp>
      <p:sp>
        <p:nvSpPr>
          <p:cNvPr id="5" name="Text 2"/>
          <p:cNvSpPr/>
          <p:nvPr/>
        </p:nvSpPr>
        <p:spPr>
          <a:xfrm>
            <a:off x="1058387" y="3054985"/>
            <a:ext cx="7443947" cy="826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467"/>
              </a:lnSpc>
            </a:pPr>
            <a:r>
              <a:rPr lang="en-US" sz="5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Anotações e Desenhos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058387" y="4516755"/>
            <a:ext cx="837247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Adicione camadas visuais aos seus slides com ferramentas de anotação profissionais. Destaque informações importantes, crie diagramas ou adicione elementos gráficos personalizados.</a:t>
            </a:r>
            <a:endParaRPr lang="en-US" sz="2067" dirty="0"/>
          </a:p>
        </p:txBody>
      </p:sp>
      <p:sp>
        <p:nvSpPr>
          <p:cNvPr id="7" name="Text 4"/>
          <p:cNvSpPr/>
          <p:nvPr/>
        </p:nvSpPr>
        <p:spPr>
          <a:xfrm>
            <a:off x="1058387" y="6025039"/>
            <a:ext cx="8372475" cy="169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3333"/>
              </a:lnSpc>
              <a:buSzPct val="100000"/>
              <a:buChar char="•"/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Setas direcionais para guiar a atenção</a:t>
            </a:r>
            <a:endParaRPr lang="en-US" sz="2067" dirty="0"/>
          </a:p>
          <a:p>
            <a:pPr marL="457189" indent="-457189">
              <a:lnSpc>
                <a:spcPts val="3333"/>
              </a:lnSpc>
              <a:buSzPct val="100000"/>
              <a:buChar char="•"/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Círculos e retângulos para destacar áreas</a:t>
            </a:r>
            <a:endParaRPr lang="en-US" sz="2067" dirty="0"/>
          </a:p>
          <a:p>
            <a:pPr marL="457189" indent="-457189">
              <a:lnSpc>
                <a:spcPts val="3333"/>
              </a:lnSpc>
              <a:buSzPct val="100000"/>
              <a:buChar char="•"/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Linhas para conectar conceitos</a:t>
            </a:r>
            <a:endParaRPr lang="en-US" sz="2067" dirty="0"/>
          </a:p>
          <a:p>
            <a:pPr marL="457189" indent="-457189">
              <a:lnSpc>
                <a:spcPts val="3333"/>
              </a:lnSpc>
              <a:buSzPct val="100000"/>
              <a:buChar char="•"/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Desenho livre para criatividade total</a:t>
            </a:r>
            <a:endParaRPr lang="en-US" sz="2067" dirty="0"/>
          </a:p>
        </p:txBody>
      </p:sp>
      <p:sp>
        <p:nvSpPr>
          <p:cNvPr id="8" name="Shape 5"/>
          <p:cNvSpPr/>
          <p:nvPr/>
        </p:nvSpPr>
        <p:spPr>
          <a:xfrm>
            <a:off x="10086499" y="4576287"/>
            <a:ext cx="4053999" cy="1691323"/>
          </a:xfrm>
          <a:prstGeom prst="roundRect">
            <a:avLst>
              <a:gd name="adj" fmla="val 865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9" name="Shape 6"/>
          <p:cNvSpPr/>
          <p:nvPr/>
        </p:nvSpPr>
        <p:spPr>
          <a:xfrm>
            <a:off x="10056019" y="4576287"/>
            <a:ext cx="121920" cy="1691323"/>
          </a:xfrm>
          <a:prstGeom prst="roundRect">
            <a:avLst>
              <a:gd name="adj" fmla="val 10000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0" name="Text 7"/>
          <p:cNvSpPr/>
          <p:nvPr/>
        </p:nvSpPr>
        <p:spPr>
          <a:xfrm>
            <a:off x="10472897" y="4871244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Setas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472897" y="5549265"/>
            <a:ext cx="3372644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Direcione o foco visual</a:t>
            </a:r>
            <a:endParaRPr lang="en-US" sz="2067" dirty="0"/>
          </a:p>
        </p:txBody>
      </p:sp>
      <p:sp>
        <p:nvSpPr>
          <p:cNvPr id="12" name="Shape 9"/>
          <p:cNvSpPr/>
          <p:nvPr/>
        </p:nvSpPr>
        <p:spPr>
          <a:xfrm>
            <a:off x="14404975" y="4576287"/>
            <a:ext cx="4053999" cy="1691323"/>
          </a:xfrm>
          <a:prstGeom prst="roundRect">
            <a:avLst>
              <a:gd name="adj" fmla="val 865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3" name="Shape 10"/>
          <p:cNvSpPr/>
          <p:nvPr/>
        </p:nvSpPr>
        <p:spPr>
          <a:xfrm>
            <a:off x="14374495" y="4576287"/>
            <a:ext cx="121920" cy="1691323"/>
          </a:xfrm>
          <a:prstGeom prst="roundRect">
            <a:avLst>
              <a:gd name="adj" fmla="val 10000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4" name="Text 11"/>
          <p:cNvSpPr/>
          <p:nvPr/>
        </p:nvSpPr>
        <p:spPr>
          <a:xfrm>
            <a:off x="14791373" y="4871244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4791373" y="5549265"/>
            <a:ext cx="3372644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Círculos e retângulos</a:t>
            </a:r>
            <a:endParaRPr lang="en-US" sz="2067" dirty="0"/>
          </a:p>
        </p:txBody>
      </p:sp>
      <p:sp>
        <p:nvSpPr>
          <p:cNvPr id="16" name="Shape 13"/>
          <p:cNvSpPr/>
          <p:nvPr/>
        </p:nvSpPr>
        <p:spPr>
          <a:xfrm>
            <a:off x="10086499" y="6532087"/>
            <a:ext cx="4053999" cy="1691323"/>
          </a:xfrm>
          <a:prstGeom prst="roundRect">
            <a:avLst>
              <a:gd name="adj" fmla="val 865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7" name="Shape 14"/>
          <p:cNvSpPr/>
          <p:nvPr/>
        </p:nvSpPr>
        <p:spPr>
          <a:xfrm>
            <a:off x="10056019" y="6532087"/>
            <a:ext cx="121920" cy="1691323"/>
          </a:xfrm>
          <a:prstGeom prst="roundRect">
            <a:avLst>
              <a:gd name="adj" fmla="val 10000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8" name="Text 15"/>
          <p:cNvSpPr/>
          <p:nvPr/>
        </p:nvSpPr>
        <p:spPr>
          <a:xfrm>
            <a:off x="10472897" y="6827044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Linhas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0472897" y="7505065"/>
            <a:ext cx="3372644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Conecte elementos</a:t>
            </a:r>
            <a:endParaRPr lang="en-US" sz="2067" dirty="0"/>
          </a:p>
        </p:txBody>
      </p:sp>
      <p:sp>
        <p:nvSpPr>
          <p:cNvPr id="20" name="Shape 17"/>
          <p:cNvSpPr/>
          <p:nvPr/>
        </p:nvSpPr>
        <p:spPr>
          <a:xfrm>
            <a:off x="14404975" y="6532087"/>
            <a:ext cx="4053999" cy="1691323"/>
          </a:xfrm>
          <a:prstGeom prst="roundRect">
            <a:avLst>
              <a:gd name="adj" fmla="val 865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1" name="Shape 18"/>
          <p:cNvSpPr/>
          <p:nvPr/>
        </p:nvSpPr>
        <p:spPr>
          <a:xfrm>
            <a:off x="14374495" y="6532087"/>
            <a:ext cx="121920" cy="1691323"/>
          </a:xfrm>
          <a:prstGeom prst="roundRect">
            <a:avLst>
              <a:gd name="adj" fmla="val 10000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22" name="Text 19"/>
          <p:cNvSpPr/>
          <p:nvPr/>
        </p:nvSpPr>
        <p:spPr>
          <a:xfrm>
            <a:off x="14791373" y="6827044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Desenho Livre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14791373" y="7505065"/>
            <a:ext cx="3372644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Criatividade sem limites</a:t>
            </a:r>
            <a:endParaRPr lang="en-US" sz="206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387" y="282417"/>
            <a:ext cx="10810399" cy="826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467"/>
              </a:lnSpc>
            </a:pPr>
            <a:r>
              <a:rPr lang="en-US" sz="5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Timeline e Sincronização Perfeita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058387" y="1638301"/>
            <a:ext cx="17390428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preciso sobre quando cada elemento aparece e por quanto tempo permanece visível. A timeline visual permite sincronizar áudios, vídeos e animações com precisão profissional.</a:t>
            </a:r>
            <a:endParaRPr lang="en-US" sz="206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024" y="1973263"/>
            <a:ext cx="15825152" cy="838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32071" y="7963860"/>
            <a:ext cx="3912759" cy="48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00"/>
              </a:lnSpc>
            </a:pPr>
            <a:r>
              <a:rPr lang="en-US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Timeline Visual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53831" y="8592075"/>
            <a:ext cx="4190999" cy="78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800"/>
              </a:lnSpc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Exibe todos os elementos na linha do tempo.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01748" y="3762821"/>
            <a:ext cx="3912757" cy="48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00"/>
              </a:lnSpc>
            </a:pPr>
            <a:r>
              <a:rPr lang="en-US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Ajuste de Duração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223509" y="4391037"/>
            <a:ext cx="4190999" cy="78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800"/>
              </a:lnSpc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Arraste bordas para alterar a duração.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614127" y="3273727"/>
            <a:ext cx="4190999" cy="97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Sincronização de Áudio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1614127" y="4391037"/>
            <a:ext cx="4190999" cy="78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Alinhe áudio com animações com precisão.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092280" y="7964131"/>
            <a:ext cx="4190997" cy="97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Preview de Reprodução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3092279" y="8573183"/>
            <a:ext cx="4190997" cy="78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 a reprodução antes de exportar.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3653" y="9494854"/>
            <a:ext cx="17390428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Arraste as bordas dos elementos na timeline para ajustar durações, sincronize narrações com animações e visualize o resultado antes de exportar.</a:t>
            </a:r>
            <a:endParaRPr lang="en-US" sz="20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387" y="3225324"/>
            <a:ext cx="3318828" cy="538163"/>
          </a:xfrm>
          <a:prstGeom prst="roundRect">
            <a:avLst>
              <a:gd name="adj" fmla="val 2265"/>
            </a:avLst>
          </a:prstGeom>
          <a:noFill/>
          <a:ln w="15240">
            <a:solidFill>
              <a:srgbClr val="0A988B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" name="Text 1"/>
          <p:cNvSpPr/>
          <p:nvPr/>
        </p:nvSpPr>
        <p:spPr>
          <a:xfrm>
            <a:off x="1237456" y="3325019"/>
            <a:ext cx="2960688" cy="338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67"/>
              </a:lnSpc>
            </a:pPr>
            <a:r>
              <a:rPr lang="en-US" sz="1667" dirty="0">
                <a:solidFill>
                  <a:srgbClr val="0A98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ORGANIZAÇÃO INTELIGENTE</a:t>
            </a:r>
            <a:endParaRPr lang="en-US" sz="1667" dirty="0"/>
          </a:p>
        </p:txBody>
      </p:sp>
      <p:sp>
        <p:nvSpPr>
          <p:cNvPr id="4" name="Text 2"/>
          <p:cNvSpPr/>
          <p:nvPr/>
        </p:nvSpPr>
        <p:spPr>
          <a:xfrm>
            <a:off x="1058387" y="3869213"/>
            <a:ext cx="8545195" cy="826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467"/>
              </a:lnSpc>
            </a:pPr>
            <a:r>
              <a:rPr lang="en-US" sz="5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Aba Layers: Controle Total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58387" y="5092859"/>
            <a:ext cx="17390428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Gerencie todos os elementos e anotações do seu slide com a aba Layers. Visualize a hierarquia completa, reordene camadas com drag-and-drop e selecione elementos rapidamente.</a:t>
            </a:r>
            <a:endParaRPr lang="en-US" sz="2067" dirty="0"/>
          </a:p>
        </p:txBody>
      </p:sp>
      <p:sp>
        <p:nvSpPr>
          <p:cNvPr id="6" name="Shape 4"/>
          <p:cNvSpPr/>
          <p:nvPr/>
        </p:nvSpPr>
        <p:spPr>
          <a:xfrm>
            <a:off x="1058387" y="6237288"/>
            <a:ext cx="595312" cy="595312"/>
          </a:xfrm>
          <a:prstGeom prst="roundRect">
            <a:avLst>
              <a:gd name="adj" fmla="val 2048"/>
            </a:avLst>
          </a:prstGeom>
          <a:solidFill>
            <a:srgbClr val="304755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7" name="Text 5"/>
          <p:cNvSpPr/>
          <p:nvPr/>
        </p:nvSpPr>
        <p:spPr>
          <a:xfrm>
            <a:off x="1918177" y="6328251"/>
            <a:ext cx="3709988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Visualização Completa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18177" y="6900546"/>
            <a:ext cx="4716463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elementos e anotações em uma lista organizada</a:t>
            </a:r>
            <a:endParaRPr lang="en-US" sz="2067" dirty="0"/>
          </a:p>
        </p:txBody>
      </p:sp>
      <p:sp>
        <p:nvSpPr>
          <p:cNvPr id="9" name="Shape 7"/>
          <p:cNvSpPr/>
          <p:nvPr/>
        </p:nvSpPr>
        <p:spPr>
          <a:xfrm>
            <a:off x="6965315" y="6237288"/>
            <a:ext cx="595312" cy="595312"/>
          </a:xfrm>
          <a:prstGeom prst="roundRect">
            <a:avLst>
              <a:gd name="adj" fmla="val 2048"/>
            </a:avLst>
          </a:prstGeom>
          <a:solidFill>
            <a:srgbClr val="304755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7825106" y="6328251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Reordenação Fácil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825106" y="6900546"/>
            <a:ext cx="4716621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Arraste para ajustar a ordem de sobreposição (zIndex)</a:t>
            </a:r>
            <a:endParaRPr lang="en-US" sz="2067" dirty="0"/>
          </a:p>
        </p:txBody>
      </p:sp>
      <p:sp>
        <p:nvSpPr>
          <p:cNvPr id="12" name="Shape 10"/>
          <p:cNvSpPr/>
          <p:nvPr/>
        </p:nvSpPr>
        <p:spPr>
          <a:xfrm>
            <a:off x="12872403" y="6237288"/>
            <a:ext cx="595312" cy="595312"/>
          </a:xfrm>
          <a:prstGeom prst="roundRect">
            <a:avLst>
              <a:gd name="adj" fmla="val 2048"/>
            </a:avLst>
          </a:prstGeom>
          <a:solidFill>
            <a:srgbClr val="304755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3" name="Text 11"/>
          <p:cNvSpPr/>
          <p:nvPr/>
        </p:nvSpPr>
        <p:spPr>
          <a:xfrm>
            <a:off x="13732193" y="6328251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Seleção Rápida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32192" y="6900546"/>
            <a:ext cx="4716621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Clique para selecionar e editar qualquer elemento</a:t>
            </a:r>
            <a:endParaRPr lang="en-US" sz="20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387" y="2448560"/>
            <a:ext cx="11417935" cy="826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467"/>
              </a:lnSpc>
            </a:pPr>
            <a:r>
              <a:rPr lang="en-US" sz="5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Exportação SCORM 1.2 Profissional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058387" y="3804445"/>
            <a:ext cx="17390428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 pacotes SCORM 1.2 completos e compatíveis com qualquer LMS padrão. O player HTML5 responsivo inclui navegação intuitiva, controles de mídia e tracking automático de progresso.</a:t>
            </a:r>
            <a:endParaRPr lang="en-US" sz="2067" dirty="0"/>
          </a:p>
        </p:txBody>
      </p:sp>
      <p:sp>
        <p:nvSpPr>
          <p:cNvPr id="4" name="Text 2"/>
          <p:cNvSpPr/>
          <p:nvPr/>
        </p:nvSpPr>
        <p:spPr>
          <a:xfrm>
            <a:off x="1058387" y="6524784"/>
            <a:ext cx="8372475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endParaRPr lang="en-US" sz="2067" dirty="0"/>
          </a:p>
        </p:txBody>
      </p:sp>
      <p:sp>
        <p:nvSpPr>
          <p:cNvPr id="5" name="Text 3"/>
          <p:cNvSpPr/>
          <p:nvPr/>
        </p:nvSpPr>
        <p:spPr>
          <a:xfrm>
            <a:off x="10086499" y="5213351"/>
            <a:ext cx="3368516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Tracking Automático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86499" y="5891371"/>
            <a:ext cx="8372475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player registra automaticamente o progresso do aluno no LMS através dos parâmetros SCORM padrão:</a:t>
            </a:r>
            <a:endParaRPr lang="en-US" sz="2067" dirty="0"/>
          </a:p>
        </p:txBody>
      </p:sp>
      <p:sp>
        <p:nvSpPr>
          <p:cNvPr id="7" name="Text 5"/>
          <p:cNvSpPr/>
          <p:nvPr/>
        </p:nvSpPr>
        <p:spPr>
          <a:xfrm>
            <a:off x="10086499" y="6976270"/>
            <a:ext cx="8372475" cy="1270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3333"/>
              </a:lnSpc>
              <a:buSzPct val="100000"/>
              <a:buChar char="•"/>
            </a:pPr>
            <a:r>
              <a:rPr lang="en-US" sz="2067" b="1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lesson_status:</a:t>
            </a: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Completo/Incompleto</a:t>
            </a:r>
            <a:endParaRPr lang="en-US" sz="2067" dirty="0"/>
          </a:p>
          <a:p>
            <a:pPr marL="457189" indent="-457189">
              <a:lnSpc>
                <a:spcPts val="3333"/>
              </a:lnSpc>
              <a:buSzPct val="100000"/>
              <a:buChar char="•"/>
            </a:pPr>
            <a:r>
              <a:rPr lang="en-US" sz="2067" b="1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lesson_location:</a:t>
            </a: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Último slide visitado</a:t>
            </a:r>
            <a:endParaRPr lang="en-US" sz="2067" dirty="0"/>
          </a:p>
          <a:p>
            <a:pPr marL="457189" indent="-457189">
              <a:lnSpc>
                <a:spcPts val="3333"/>
              </a:lnSpc>
              <a:buSzPct val="100000"/>
              <a:buChar char="•"/>
            </a:pPr>
            <a:r>
              <a:rPr lang="en-US" sz="2067" b="1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Compatibilidade:</a:t>
            </a: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Funciona em qualquer LMS padrão</a:t>
            </a:r>
            <a:endParaRPr lang="en-US" sz="20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387" y="334169"/>
            <a:ext cx="6615748" cy="826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467"/>
              </a:lnSpc>
            </a:pPr>
            <a:r>
              <a:rPr lang="en-US" sz="5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Tecnologia de Ponta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058387" y="1690053"/>
            <a:ext cx="17390428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SCORMIFY é construído com as melhores tecnologias modernas para garantir desempenho, confiabilidade e uma experiência de usuário excepcional.</a:t>
            </a:r>
            <a:endParaRPr lang="en-US" sz="206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87" y="2834482"/>
            <a:ext cx="2951639" cy="29516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8388" y="6116796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Moderno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58387" y="6689091"/>
            <a:ext cx="4099560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Tailwind CSS + Shadcn/UI</a:t>
            </a:r>
            <a:endParaRPr lang="en-US" sz="2067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623" y="2834482"/>
            <a:ext cx="2951639" cy="29516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8624" y="6116796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Robusto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488623" y="6689091"/>
            <a:ext cx="4099560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(Python) para processamento rápido</a:t>
            </a:r>
            <a:endParaRPr lang="en-US" sz="206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8859" y="2834482"/>
            <a:ext cx="2951639" cy="29516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18860" y="6116796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 de Dados</a:t>
            </a:r>
            <a:endParaRPr lang="en-US" sz="2600" dirty="0"/>
          </a:p>
        </p:txBody>
      </p:sp>
      <p:sp>
        <p:nvSpPr>
          <p:cNvPr id="12" name="Text 7"/>
          <p:cNvSpPr/>
          <p:nvPr/>
        </p:nvSpPr>
        <p:spPr>
          <a:xfrm>
            <a:off x="9918859" y="6689091"/>
            <a:ext cx="4099560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para projetos persistentes</a:t>
            </a:r>
            <a:endParaRPr lang="en-US" sz="2067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9095" y="2834482"/>
            <a:ext cx="2951797" cy="29517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349096" y="6116955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Integrada</a:t>
            </a:r>
            <a:endParaRPr lang="en-US" sz="2600" dirty="0"/>
          </a:p>
        </p:txBody>
      </p:sp>
      <p:sp>
        <p:nvSpPr>
          <p:cNvPr id="15" name="Text 9"/>
          <p:cNvSpPr/>
          <p:nvPr/>
        </p:nvSpPr>
        <p:spPr>
          <a:xfrm>
            <a:off x="14349095" y="6689250"/>
            <a:ext cx="4099719" cy="8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HeyGen API + Emergent LLM Key</a:t>
            </a:r>
            <a:endParaRPr lang="en-US" sz="2067" dirty="0"/>
          </a:p>
        </p:txBody>
      </p:sp>
      <p:sp>
        <p:nvSpPr>
          <p:cNvPr id="16" name="Shape 10"/>
          <p:cNvSpPr/>
          <p:nvPr/>
        </p:nvSpPr>
        <p:spPr>
          <a:xfrm>
            <a:off x="1058387" y="7965875"/>
            <a:ext cx="17390428" cy="43180"/>
          </a:xfrm>
          <a:prstGeom prst="rect">
            <a:avLst/>
          </a:prstGeom>
          <a:solidFill>
            <a:srgbClr val="CAD6DE">
              <a:alpha val="50000"/>
            </a:srgbClr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7" name="Text 11"/>
          <p:cNvSpPr/>
          <p:nvPr/>
        </p:nvSpPr>
        <p:spPr>
          <a:xfrm>
            <a:off x="1058387" y="8438833"/>
            <a:ext cx="5576252" cy="873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6866"/>
              </a:lnSpc>
            </a:pPr>
            <a:r>
              <a:rPr lang="en-US" sz="6866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100MB</a:t>
            </a:r>
            <a:endParaRPr lang="en-US" sz="6866" dirty="0"/>
          </a:p>
        </p:txBody>
      </p:sp>
      <p:sp>
        <p:nvSpPr>
          <p:cNvPr id="18" name="Text 12"/>
          <p:cNvSpPr/>
          <p:nvPr/>
        </p:nvSpPr>
        <p:spPr>
          <a:xfrm>
            <a:off x="2192497" y="9642792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Tamanho Máximo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1058387" y="10215087"/>
            <a:ext cx="5576252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Arquivos de até 100MB suportados</a:t>
            </a:r>
            <a:endParaRPr lang="en-US" sz="2067" dirty="0"/>
          </a:p>
        </p:txBody>
      </p:sp>
      <p:sp>
        <p:nvSpPr>
          <p:cNvPr id="20" name="Text 14"/>
          <p:cNvSpPr/>
          <p:nvPr/>
        </p:nvSpPr>
        <p:spPr>
          <a:xfrm>
            <a:off x="6965315" y="8438833"/>
            <a:ext cx="5576411" cy="873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6866"/>
              </a:lnSpc>
            </a:pPr>
            <a:r>
              <a:rPr lang="en-US" sz="6866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1920</a:t>
            </a:r>
            <a:endParaRPr lang="en-US" sz="6866" dirty="0"/>
          </a:p>
        </p:txBody>
      </p:sp>
      <p:sp>
        <p:nvSpPr>
          <p:cNvPr id="21" name="Text 15"/>
          <p:cNvSpPr/>
          <p:nvPr/>
        </p:nvSpPr>
        <p:spPr>
          <a:xfrm>
            <a:off x="8099585" y="9642792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Resolução Full HD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6965315" y="10215087"/>
            <a:ext cx="5576411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Imagens otimizadas para 1920x1080</a:t>
            </a:r>
            <a:endParaRPr lang="en-US" sz="2067" dirty="0"/>
          </a:p>
        </p:txBody>
      </p:sp>
      <p:sp>
        <p:nvSpPr>
          <p:cNvPr id="23" name="Text 17"/>
          <p:cNvSpPr/>
          <p:nvPr/>
        </p:nvSpPr>
        <p:spPr>
          <a:xfrm>
            <a:off x="12872403" y="8438833"/>
            <a:ext cx="5576411" cy="873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6866"/>
              </a:lnSpc>
            </a:pPr>
            <a:r>
              <a:rPr lang="en-US" sz="6866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85%</a:t>
            </a:r>
            <a:endParaRPr lang="en-US" sz="6866" dirty="0"/>
          </a:p>
        </p:txBody>
      </p:sp>
      <p:sp>
        <p:nvSpPr>
          <p:cNvPr id="24" name="Text 18"/>
          <p:cNvSpPr/>
          <p:nvPr/>
        </p:nvSpPr>
        <p:spPr>
          <a:xfrm>
            <a:off x="14006672" y="9642792"/>
            <a:ext cx="3307873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200"/>
              </a:lnSpc>
            </a:pPr>
            <a:r>
              <a:rPr lang="en-US" sz="2600" b="1" dirty="0">
                <a:solidFill>
                  <a:srgbClr val="CA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Qualidade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12872403" y="10215087"/>
            <a:ext cx="5576411" cy="42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333"/>
              </a:lnSpc>
            </a:pPr>
            <a:r>
              <a:rPr lang="en-US" sz="2067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Compressão inteligente mantendo qualidade</a:t>
            </a:r>
            <a:endParaRPr lang="en-US" sz="20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639</Words>
  <Application>Microsoft Office PowerPoint</Application>
  <PresentationFormat>Personalizar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Calibri Light</vt:lpstr>
      <vt:lpstr>Inter Bold</vt:lpstr>
      <vt:lpstr>Inter Light</vt:lpstr>
      <vt:lpstr>Inter</vt:lpstr>
      <vt:lpstr>Arial</vt:lpstr>
      <vt:lpstr>Calibri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André Luiz Zambrini</dc:creator>
  <cp:lastModifiedBy>Andre Luiz Zambrini</cp:lastModifiedBy>
  <cp:revision>5</cp:revision>
  <dcterms:created xsi:type="dcterms:W3CDTF">2026-02-03T19:40:58Z</dcterms:created>
  <dcterms:modified xsi:type="dcterms:W3CDTF">2026-02-04T13:06:46Z</dcterms:modified>
</cp:coreProperties>
</file>