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embeddedFontLst>
    <p:embeddedFont>
      <p:font typeface="Inter" panose="02000503000000020004" pitchFamily="2" charset="0"/>
      <p:regular r:id="rId18"/>
      <p:bold r:id="rId19"/>
    </p:embeddedFont>
    <p:embeddedFont>
      <p:font typeface="Sora" pitchFamily="2" charset="0"/>
      <p:regular r:id="rId20"/>
      <p:bold r:id="rId21"/>
    </p:embeddedFont>
    <p:embeddedFont>
      <p:font typeface="Sora Light" pitchFamily="2" charset="0"/>
      <p:regular r:id="rId22"/>
    </p:embeddedFont>
    <p:embeddedFont>
      <p:font typeface="Sora Semi Bold" panose="020B0604020202020204" charset="0"/>
      <p:regular r:id="rId2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8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145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19" Type="http://schemas.openxmlformats.org/officeDocument/2006/relationships/image" Target="../media/image21.sv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5.png"/><Relationship Id="rId11" Type="http://schemas.openxmlformats.org/officeDocument/2006/relationships/image" Target="../media/image60.svg"/><Relationship Id="rId5" Type="http://schemas.openxmlformats.org/officeDocument/2006/relationships/image" Target="../media/image54.sv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864037" y="2524958"/>
            <a:ext cx="12902327" cy="1624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50"/>
              </a:lnSpc>
              <a:buNone/>
            </a:pPr>
            <a:r>
              <a:rPr lang="en-US" sz="510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Tutorial de Implementação da Plataforma Didaxis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864037" y="4519493"/>
            <a:ext cx="129023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Este tutorial apresenta o passo a passo completo para implementação da Plataforma Didaxis, abordando desde a carga inicial de dados até o treinamento de administradores, com foco em todas as funcionalidades e configurações necessárias para o sucesso do projeto.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57438" y="496967"/>
            <a:ext cx="7062073" cy="59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Sora" pitchFamily="2" charset="0"/>
                <a:ea typeface="Sora Semi Bold" pitchFamily="34" charset="-122"/>
                <a:cs typeface="Sora" pitchFamily="2" charset="0"/>
              </a:rPr>
              <a:t>Fase 1: Carga Inicial de Dados</a:t>
            </a:r>
            <a:endParaRPr lang="en-US" sz="3700" dirty="0">
              <a:latin typeface="Sora" pitchFamily="2" charset="0"/>
              <a:cs typeface="Sora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357438" y="1450538"/>
            <a:ext cx="991552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A plataforma permite ingestão de dados dos seguintes meios: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357438" y="1941671"/>
            <a:ext cx="3184922" cy="2557224"/>
          </a:xfrm>
          <a:prstGeom prst="roundRect">
            <a:avLst>
              <a:gd name="adj" fmla="val 4291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334578" y="1941671"/>
            <a:ext cx="91440" cy="2557224"/>
          </a:xfrm>
          <a:prstGeom prst="roundRect">
            <a:avLst>
              <a:gd name="adj" fmla="val 82807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629138" y="2144792"/>
            <a:ext cx="2710101" cy="889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Integração com softwares de folha de pagamento</a:t>
            </a:r>
            <a:endParaRPr lang="en-US" sz="185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629138" y="3142298"/>
            <a:ext cx="2710101" cy="115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Conexão direta com sistemas de RH para importação automática de dados dos colaboradores.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722620" y="1941671"/>
            <a:ext cx="3185041" cy="2557224"/>
          </a:xfrm>
          <a:prstGeom prst="roundRect">
            <a:avLst>
              <a:gd name="adj" fmla="val 4291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699760" y="1941671"/>
            <a:ext cx="91440" cy="2557224"/>
          </a:xfrm>
          <a:prstGeom prst="roundRect">
            <a:avLst>
              <a:gd name="adj" fmla="val 82807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94321" y="2144792"/>
            <a:ext cx="2710220" cy="889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Planilhas Excel (.xlsx) com estrutura padrão da Didaxis</a:t>
            </a:r>
            <a:endParaRPr lang="en-US" sz="185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94321" y="3142298"/>
            <a:ext cx="2710220" cy="115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Upload de arquivos Excel formatados conforme o modelo fornecido pela plataforma.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087922" y="1941671"/>
            <a:ext cx="3185041" cy="2557224"/>
          </a:xfrm>
          <a:prstGeom prst="roundRect">
            <a:avLst>
              <a:gd name="adj" fmla="val 4291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065062" y="1941671"/>
            <a:ext cx="91440" cy="2557224"/>
          </a:xfrm>
          <a:prstGeom prst="roundRect">
            <a:avLst>
              <a:gd name="adj" fmla="val 82807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359622" y="2144792"/>
            <a:ext cx="2710220" cy="889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Integração via APIs com Portais Legados da empresa</a:t>
            </a:r>
            <a:endParaRPr lang="en-US" sz="185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359622" y="3142298"/>
            <a:ext cx="2710220" cy="86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Conexão programática com sistemas existentes para transferência de dados.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357438" y="4769287"/>
            <a:ext cx="5460683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Campos obrigatórios para cada colaborador:</a:t>
            </a:r>
            <a:endParaRPr lang="en-US" sz="185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357438" y="5336143"/>
            <a:ext cx="991552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Matrícula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357438" y="5687497"/>
            <a:ext cx="991552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Nome completo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357438" y="6038850"/>
            <a:ext cx="991552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E-mail corporativo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357438" y="6390203"/>
            <a:ext cx="991552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Cargo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357438" y="6741557"/>
            <a:ext cx="991552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Lotação/Unidade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357438" y="7092910"/>
            <a:ext cx="991552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Área/Departamento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357438" y="7444264"/>
            <a:ext cx="991552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Perfil de acesso</a:t>
            </a:r>
            <a:endParaRPr lang="en-US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3552" y="583406"/>
            <a:ext cx="5398651" cy="551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Sora" pitchFamily="2" charset="0"/>
                <a:ea typeface="Sora Semi Bold" pitchFamily="34" charset="-122"/>
                <a:cs typeface="Sora" pitchFamily="2" charset="0"/>
              </a:rPr>
              <a:t>Checklist de Integração</a:t>
            </a:r>
            <a:endParaRPr lang="en-US" sz="3450" dirty="0">
              <a:latin typeface="Sora" pitchFamily="2" charset="0"/>
              <a:cs typeface="Sora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03770" y="1470303"/>
            <a:ext cx="22860" cy="5006816"/>
          </a:xfrm>
          <a:prstGeom prst="roundRect">
            <a:avLst>
              <a:gd name="adj" fmla="val 308106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46366" y="1647468"/>
            <a:ext cx="503039" cy="22860"/>
          </a:xfrm>
          <a:prstGeom prst="roundRect">
            <a:avLst>
              <a:gd name="adj" fmla="val 308106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126545" y="1470303"/>
            <a:ext cx="377309" cy="377309"/>
          </a:xfrm>
          <a:prstGeom prst="roundRect">
            <a:avLst>
              <a:gd name="adj" fmla="val 18667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82803" y="1493460"/>
            <a:ext cx="264676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1</a:t>
            </a:r>
            <a:endParaRPr lang="en-US" sz="205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03552" y="1527929"/>
            <a:ext cx="3773210" cy="55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Mapear dados existentes na folha/portal legado</a:t>
            </a:r>
            <a:endParaRPr lang="en-US" sz="17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03552" y="2180034"/>
            <a:ext cx="3773210" cy="80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Identificar todos os campos disponíveis nos sistemas atuais e sua correspondência com a plataforma Didaxis.</a:t>
            </a:r>
            <a:endParaRPr lang="en-US" sz="13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80995" y="2653427"/>
            <a:ext cx="503039" cy="22860"/>
          </a:xfrm>
          <a:prstGeom prst="roundRect">
            <a:avLst>
              <a:gd name="adj" fmla="val 308106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126545" y="2476262"/>
            <a:ext cx="377309" cy="377309"/>
          </a:xfrm>
          <a:prstGeom prst="roundRect">
            <a:avLst>
              <a:gd name="adj" fmla="val 18667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82803" y="2499420"/>
            <a:ext cx="264676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2</a:t>
            </a:r>
            <a:endParaRPr lang="en-US" sz="205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53638" y="2533888"/>
            <a:ext cx="3589020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Validar consistência de campos</a:t>
            </a:r>
            <a:endParaRPr lang="en-US" sz="17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53638" y="2910245"/>
            <a:ext cx="3773210" cy="536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Verificar se os dados estão completos e no formato correto para importação.</a:t>
            </a:r>
            <a:endParaRPr lang="en-US" sz="13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646366" y="3520559"/>
            <a:ext cx="503039" cy="22860"/>
          </a:xfrm>
          <a:prstGeom prst="roundRect">
            <a:avLst>
              <a:gd name="adj" fmla="val 308106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26545" y="3343394"/>
            <a:ext cx="377309" cy="377309"/>
          </a:xfrm>
          <a:prstGeom prst="roundRect">
            <a:avLst>
              <a:gd name="adj" fmla="val 18667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82803" y="3366552"/>
            <a:ext cx="264676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3</a:t>
            </a:r>
            <a:endParaRPr lang="en-US" sz="205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03552" y="3401020"/>
            <a:ext cx="3773210" cy="55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Padronizar planilha ou conectar via API</a:t>
            </a:r>
            <a:endParaRPr lang="en-US" sz="17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03552" y="4053126"/>
            <a:ext cx="3773210" cy="536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Preparar os dados no formato adequado ou estabelecer conexões programáticas.</a:t>
            </a:r>
            <a:endParaRPr lang="en-US" sz="13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480995" y="4387810"/>
            <a:ext cx="503039" cy="22860"/>
          </a:xfrm>
          <a:prstGeom prst="roundRect">
            <a:avLst>
              <a:gd name="adj" fmla="val 308106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26545" y="4210645"/>
            <a:ext cx="377309" cy="377309"/>
          </a:xfrm>
          <a:prstGeom prst="roundRect">
            <a:avLst>
              <a:gd name="adj" fmla="val 18667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82803" y="4233803"/>
            <a:ext cx="264676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4</a:t>
            </a:r>
            <a:endParaRPr lang="en-US" sz="205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53638" y="4268272"/>
            <a:ext cx="3773210" cy="55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Realizar carga inicial em ambiente de homologação</a:t>
            </a:r>
            <a:endParaRPr lang="en-US" sz="17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153638" y="4920377"/>
            <a:ext cx="3773210" cy="536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Testar a importação em ambiente controlado antes da implementação final.</a:t>
            </a:r>
            <a:endParaRPr lang="en-US" sz="13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646366" y="5255062"/>
            <a:ext cx="503039" cy="22860"/>
          </a:xfrm>
          <a:prstGeom prst="roundRect">
            <a:avLst>
              <a:gd name="adj" fmla="val 308106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126545" y="5077897"/>
            <a:ext cx="377309" cy="377309"/>
          </a:xfrm>
          <a:prstGeom prst="roundRect">
            <a:avLst>
              <a:gd name="adj" fmla="val 18667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82803" y="5101054"/>
            <a:ext cx="264676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5</a:t>
            </a:r>
            <a:endParaRPr lang="en-US" sz="205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604022" y="5135523"/>
            <a:ext cx="2872740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Validar com stakeholders</a:t>
            </a:r>
            <a:endParaRPr lang="en-US" sz="17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703552" y="5511879"/>
            <a:ext cx="3773210" cy="536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Confirmar com as partes interessadas se os dados foram importados corretamente.</a:t>
            </a:r>
            <a:endParaRPr lang="en-US" sz="13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03552" y="6665714"/>
            <a:ext cx="9223296" cy="980480"/>
          </a:xfrm>
          <a:prstGeom prst="roundRect">
            <a:avLst>
              <a:gd name="adj" fmla="val 718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pt-BR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192" y="6919079"/>
            <a:ext cx="209550" cy="1676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3248382" y="6875264"/>
            <a:ext cx="8510826" cy="536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A validação cuidadosa dos dados é fundamental para evitar problemas futuros na plataforma. Certifique-se de que todos os campos obrigatórios estejam preenchidos corretamente.</a:t>
            </a:r>
            <a:endParaRPr lang="en-US" sz="13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0490" y="339447"/>
            <a:ext cx="6789420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Sora" pitchFamily="2" charset="0"/>
                <a:ea typeface="Sora Semi Bold" pitchFamily="34" charset="-122"/>
                <a:cs typeface="Sora" pitchFamily="2" charset="0"/>
              </a:rPr>
              <a:t>Fase 2: Estruturação dos Portais Temáticos</a:t>
            </a:r>
            <a:endParaRPr lang="en-US" sz="2550" dirty="0">
              <a:latin typeface="Sora" pitchFamily="2" charset="0"/>
              <a:cs typeface="Sora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920490" y="1459944"/>
            <a:ext cx="173140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1F1E1E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Exemplos de Portais: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920490" y="1786295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Operacional: vídeos e notícias simples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920490" y="2026920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Comercial: trilhas de vendas e produtos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20490" y="2267545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Liderança: trilhas de liderança e gestão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920490" y="2508171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RH/DP: biblioteca de documentos e legislação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20490" y="2748796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TI: artigos e cursos técnicos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315" y="1475423"/>
            <a:ext cx="3244215" cy="32442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20490" y="5043607"/>
            <a:ext cx="37015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1F1E1E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Funcionalidades disponíveis em cada portal: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0490" y="5431750"/>
            <a:ext cx="308610" cy="3086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20490" y="5894665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Catálogo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920490" y="6171724"/>
            <a:ext cx="2160270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Listagem organizada de todos os cursos disponíveis.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5065" y="5431750"/>
            <a:ext cx="308610" cy="3086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35065" y="5894665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Trilhas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6235065" y="6171724"/>
            <a:ext cx="2160270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Sequências de aprendizado estruturadas por tema.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49640" y="5431750"/>
            <a:ext cx="308610" cy="3086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49640" y="5894665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Agenda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549640" y="6171724"/>
            <a:ext cx="2160270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Calendário de eventos e prazos de cursos.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20490" y="6813590"/>
            <a:ext cx="308610" cy="30861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20490" y="7276505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Biblioteca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3920490" y="7553563"/>
            <a:ext cx="2160270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Repositório de documentos e materiais de referência.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35065" y="6813590"/>
            <a:ext cx="308610" cy="30861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35065" y="7276505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Videoteca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6235065" y="7553563"/>
            <a:ext cx="2160270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Coleção de vídeos educativos organizados por tema.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49640" y="6813590"/>
            <a:ext cx="308610" cy="30861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549640" y="7276505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Artigos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8549640" y="7553563"/>
            <a:ext cx="2160270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Textos informativos e educacionais.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20490" y="8195429"/>
            <a:ext cx="308610" cy="30861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920490" y="8658344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Notícias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3920490" y="8935402"/>
            <a:ext cx="2160270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Atualizações e informações recentes.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35065" y="8195429"/>
            <a:ext cx="308610" cy="30861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235065" y="8658344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Chat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4" name="Text 23"/>
          <p:cNvSpPr/>
          <p:nvPr/>
        </p:nvSpPr>
        <p:spPr>
          <a:xfrm>
            <a:off x="6235065" y="8935402"/>
            <a:ext cx="2160270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Comunicação direta entre usuários da plataforma.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49640" y="8195429"/>
            <a:ext cx="308610" cy="30861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8549640" y="8658344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Semi Bold" pitchFamily="34" charset="-120"/>
              </a:rPr>
              <a:t>Certificados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7" name="Text 25"/>
          <p:cNvSpPr/>
          <p:nvPr/>
        </p:nvSpPr>
        <p:spPr>
          <a:xfrm>
            <a:off x="8549640" y="8935402"/>
            <a:ext cx="2160270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Inter" panose="02000503000000020004" pitchFamily="2" charset="0"/>
                <a:ea typeface="Inter" panose="02000503000000020004" pitchFamily="2" charset="0"/>
                <a:cs typeface="Sora Light" pitchFamily="34" charset="-120"/>
              </a:rPr>
              <a:t>Emissão de comprovantes de conclusão de cursos.</a:t>
            </a:r>
            <a:endParaRPr lang="en-US" sz="1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0490" y="339447"/>
            <a:ext cx="5303401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Fase 3: Trilhas de Aprendizagem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920490" y="794742"/>
            <a:ext cx="210812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Automatização por Perfil: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490" y="1182886"/>
            <a:ext cx="2263140" cy="493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43839" y="1799987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Atendente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043839" y="2077045"/>
            <a:ext cx="201644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Atendimento + Compliance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043839" y="2348627"/>
            <a:ext cx="2016443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Técnicas de atendimento ao cliente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043839" y="2786777"/>
            <a:ext cx="201644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Normas regulatórias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043839" y="3027402"/>
            <a:ext cx="201644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Procedimentos padrão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630" y="1182886"/>
            <a:ext cx="2263140" cy="493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6979" y="1799987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Supervisor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306979" y="2077045"/>
            <a:ext cx="2016443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Gestão de Pessoas + Indicadores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306979" y="2546152"/>
            <a:ext cx="201644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Liderança de equipes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306979" y="2786777"/>
            <a:ext cx="201644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Análise de desempenho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306979" y="3027402"/>
            <a:ext cx="201644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Gestão de conflitos</a:t>
            </a:r>
            <a:endParaRPr lang="en-US" sz="9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6770" y="1182886"/>
            <a:ext cx="2263140" cy="493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70119" y="1799987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Gerente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570119" y="2077045"/>
            <a:ext cx="201644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Liderança + Estratégia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8570119" y="2348627"/>
            <a:ext cx="201644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Planejamento estratégico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8570119" y="2589252"/>
            <a:ext cx="201644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Gestão de resultados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570119" y="2829878"/>
            <a:ext cx="2016443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Desenvolvimento organizacional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3920490" y="3533418"/>
            <a:ext cx="1872020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Conteúdos Utilizáveis: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920490" y="4032647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SCORM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3920490" y="4273272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Vídeos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3920490" y="4513898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PDFs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920490" y="4754523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Artigos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3920490" y="4995148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Links externos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3920490" y="5235773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Cursos externos</a:t>
            </a:r>
            <a:endParaRPr lang="en-US" sz="9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3315" y="4060388"/>
            <a:ext cx="3244215" cy="324421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3920490" y="7582257"/>
            <a:ext cx="6789420" cy="721995"/>
          </a:xfrm>
          <a:prstGeom prst="roundRect">
            <a:avLst>
              <a:gd name="adj" fmla="val 7181"/>
            </a:avLst>
          </a:prstGeom>
          <a:solidFill>
            <a:srgbClr val="F7BBC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3839" y="7765613"/>
            <a:ext cx="154305" cy="123349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321493" y="7736443"/>
            <a:ext cx="6265069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 trilhas de aprendizagem podem ser personalizadas de acordo com as necessidades específicas de cada departamento ou função na empresa.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93894" y="1015722"/>
            <a:ext cx="5648682" cy="438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Fase 4: Certificação e Avaliação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393894" y="1507212"/>
            <a:ext cx="2627947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Configuração do Certificado: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393894" y="1926193"/>
            <a:ext cx="7328892" cy="2107525"/>
          </a:xfrm>
          <a:prstGeom prst="roundRect">
            <a:avLst>
              <a:gd name="adj" fmla="val 2656"/>
            </a:avLst>
          </a:prstGeom>
          <a:solidFill>
            <a:srgbClr val="FFFFFF"/>
          </a:solidFill>
          <a:ln w="1524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542365" y="2074664"/>
            <a:ext cx="2298978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Elementos do Certificado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42365" y="2373749"/>
            <a:ext cx="7031950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Nome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42365" y="2633424"/>
            <a:ext cx="7031950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Curso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42365" y="2893100"/>
            <a:ext cx="7031950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Carga horária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42365" y="3152775"/>
            <a:ext cx="7031950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Instrutor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42365" y="3412450"/>
            <a:ext cx="7031950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QR Code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42365" y="3672126"/>
            <a:ext cx="7031950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Logos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93894" y="4166949"/>
            <a:ext cx="7328892" cy="1328499"/>
          </a:xfrm>
          <a:prstGeom prst="roundRect">
            <a:avLst>
              <a:gd name="adj" fmla="val 4213"/>
            </a:avLst>
          </a:prstGeom>
          <a:solidFill>
            <a:srgbClr val="FFFFFF"/>
          </a:solidFill>
          <a:ln w="1524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542365" y="4315420"/>
            <a:ext cx="2023229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Critérios para Emissão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542365" y="4614505"/>
            <a:ext cx="7031950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100% do conteúdo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542365" y="4874181"/>
            <a:ext cx="7031950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Nota mínima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42365" y="5133856"/>
            <a:ext cx="7031950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Avaliação de reação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93894" y="5645348"/>
            <a:ext cx="7328892" cy="639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Os certificados são gerados automaticamente após o cumprimento de todos os critérios estabelecidos para cada curso ou trilha. O sistema permite personalização visual de acordo com a identidade da empresa, incluindo logos e cores institucionais.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393894" y="6434614"/>
            <a:ext cx="7328892" cy="779145"/>
          </a:xfrm>
          <a:prstGeom prst="roundRect">
            <a:avLst>
              <a:gd name="adj" fmla="val 7183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125" y="6629162"/>
            <a:ext cx="166449" cy="13323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26806" y="6601063"/>
            <a:ext cx="6762750" cy="42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validação dos certificados pode ser feita através do QR Code, garantindo a autenticidade do documento e facilitando a verificação por terceiros.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1870" y="378857"/>
            <a:ext cx="4910257" cy="452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Fase 5: Perfis e Permissões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262" y="1106448"/>
            <a:ext cx="936308" cy="8037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26737" y="1487329"/>
            <a:ext cx="193358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029087" y="1243965"/>
            <a:ext cx="204311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Administrador Master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29087" y="1552694"/>
            <a:ext cx="2769870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Acesso total: relatórios, cursos, usuários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25860" y="1923574"/>
            <a:ext cx="5138261" cy="7620"/>
          </a:xfrm>
          <a:prstGeom prst="roundRect">
            <a:avLst>
              <a:gd name="adj" fmla="val 758281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108" y="1944529"/>
            <a:ext cx="1872615" cy="8037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26618" y="2225516"/>
            <a:ext cx="193358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97241" y="2082046"/>
            <a:ext cx="181010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Gestor Local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97241" y="2390775"/>
            <a:ext cx="2601873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Visualização de desempenho por área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94013" y="2761655"/>
            <a:ext cx="4670108" cy="7620"/>
          </a:xfrm>
          <a:prstGeom prst="roundRect">
            <a:avLst>
              <a:gd name="adj" fmla="val 758281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8955" y="2782610"/>
            <a:ext cx="2809042" cy="8037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26737" y="3063597"/>
            <a:ext cx="193358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965513" y="2920127"/>
            <a:ext cx="181010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Professor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965513" y="3228856"/>
            <a:ext cx="2783681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Gestão de conteúdos, avaliações, fóruns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862286" y="3599736"/>
            <a:ext cx="4201835" cy="7620"/>
          </a:xfrm>
          <a:prstGeom prst="roundRect">
            <a:avLst>
              <a:gd name="adj" fmla="val 758281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0682" y="3620691"/>
            <a:ext cx="3745349" cy="8037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26618" y="3901678"/>
            <a:ext cx="193358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433548" y="3758208"/>
            <a:ext cx="181010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Aluno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433548" y="4066937"/>
            <a:ext cx="3014305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Navegação e acesso aos cursos designados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3531870" y="4579144"/>
            <a:ext cx="7566541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Funções exclusivas por perfil habilitam interações específicas com os usuários. Cada nível de acesso possui permissões cuidadosamente definidas para garantir a segurança das informações e o funcionamento adequado da plataforma.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531870" y="5393888"/>
            <a:ext cx="7566541" cy="2456736"/>
          </a:xfrm>
          <a:prstGeom prst="roundRect">
            <a:avLst>
              <a:gd name="adj" fmla="val 235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8"/>
          <p:cNvSpPr/>
          <p:nvPr/>
        </p:nvSpPr>
        <p:spPr>
          <a:xfrm>
            <a:off x="3539490" y="5401508"/>
            <a:ext cx="7551301" cy="6203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19"/>
          <p:cNvSpPr/>
          <p:nvPr/>
        </p:nvSpPr>
        <p:spPr>
          <a:xfrm>
            <a:off x="3677364" y="5491639"/>
            <a:ext cx="123134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Perfil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191363" y="5491639"/>
            <a:ext cx="122753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Criar Conteúdo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701552" y="5491639"/>
            <a:ext cx="122753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Editar Usuários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211741" y="5491639"/>
            <a:ext cx="122753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Ver Relatórios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9721929" y="5491639"/>
            <a:ext cx="1231344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Configurar Sistema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539490" y="6021824"/>
            <a:ext cx="7551301" cy="6203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5"/>
          <p:cNvSpPr/>
          <p:nvPr/>
        </p:nvSpPr>
        <p:spPr>
          <a:xfrm>
            <a:off x="3677364" y="6111954"/>
            <a:ext cx="1231344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Administrador Master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191363" y="6111954"/>
            <a:ext cx="122753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✓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6701552" y="6111954"/>
            <a:ext cx="122753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✓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8211741" y="6111954"/>
            <a:ext cx="122753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✓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9721929" y="6111954"/>
            <a:ext cx="123134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✓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3539490" y="6642140"/>
            <a:ext cx="7551301" cy="4002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1"/>
          <p:cNvSpPr/>
          <p:nvPr/>
        </p:nvSpPr>
        <p:spPr>
          <a:xfrm>
            <a:off x="3677364" y="6732270"/>
            <a:ext cx="123134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Gestor Local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5191363" y="6732270"/>
            <a:ext cx="122753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✓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6701552" y="6732270"/>
            <a:ext cx="122753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Parcial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8211741" y="6732270"/>
            <a:ext cx="122753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✓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9721929" y="6732270"/>
            <a:ext cx="123134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-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3539490" y="7042428"/>
            <a:ext cx="7551301" cy="40028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37"/>
          <p:cNvSpPr/>
          <p:nvPr/>
        </p:nvSpPr>
        <p:spPr>
          <a:xfrm>
            <a:off x="3677364" y="7132558"/>
            <a:ext cx="123134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Professor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5191363" y="7132558"/>
            <a:ext cx="122753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✓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6701552" y="7132558"/>
            <a:ext cx="122753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-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8211741" y="7132558"/>
            <a:ext cx="122753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Parcial</a:t>
            </a:r>
            <a:endParaRPr lang="en-US" sz="1050" dirty="0"/>
          </a:p>
        </p:txBody>
      </p:sp>
      <p:sp>
        <p:nvSpPr>
          <p:cNvPr id="47" name="Text 41"/>
          <p:cNvSpPr/>
          <p:nvPr/>
        </p:nvSpPr>
        <p:spPr>
          <a:xfrm>
            <a:off x="9721929" y="7132558"/>
            <a:ext cx="123134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-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3539490" y="7442716"/>
            <a:ext cx="7551301" cy="4002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3"/>
          <p:cNvSpPr/>
          <p:nvPr/>
        </p:nvSpPr>
        <p:spPr>
          <a:xfrm>
            <a:off x="3677364" y="7532846"/>
            <a:ext cx="123134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Aluno</a:t>
            </a:r>
            <a:endParaRPr lang="en-US" sz="1050" dirty="0"/>
          </a:p>
        </p:txBody>
      </p:sp>
      <p:sp>
        <p:nvSpPr>
          <p:cNvPr id="50" name="Text 44"/>
          <p:cNvSpPr/>
          <p:nvPr/>
        </p:nvSpPr>
        <p:spPr>
          <a:xfrm>
            <a:off x="5191363" y="7532846"/>
            <a:ext cx="122753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-</a:t>
            </a:r>
            <a:endParaRPr lang="en-US" sz="1050" dirty="0"/>
          </a:p>
        </p:txBody>
      </p:sp>
      <p:sp>
        <p:nvSpPr>
          <p:cNvPr id="51" name="Text 45"/>
          <p:cNvSpPr/>
          <p:nvPr/>
        </p:nvSpPr>
        <p:spPr>
          <a:xfrm>
            <a:off x="6701552" y="7532846"/>
            <a:ext cx="122753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-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8211741" y="7532846"/>
            <a:ext cx="122753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-</a:t>
            </a:r>
            <a:endParaRPr lang="en-US" sz="1050" dirty="0"/>
          </a:p>
        </p:txBody>
      </p:sp>
      <p:sp>
        <p:nvSpPr>
          <p:cNvPr id="53" name="Text 47"/>
          <p:cNvSpPr/>
          <p:nvPr/>
        </p:nvSpPr>
        <p:spPr>
          <a:xfrm>
            <a:off x="9721929" y="7532846"/>
            <a:ext cx="1231344" cy="220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-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0490" y="339447"/>
            <a:ext cx="5669161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Fase 6: Gamificação na Plataforma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920490" y="794742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Objetivo: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920490" y="1182886"/>
            <a:ext cx="678942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Engajar alunos, recompensar ações, promover competição e desempenho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920490" y="1642586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Funcionalidades: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920490" y="1968937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Pontos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920490" y="2209562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Medalhas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20490" y="2450187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Rankings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20490" y="2690813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Conquistas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20490" y="2931438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Regras por Perfil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920490" y="3172063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Notificações</a:t>
            </a:r>
            <a:endParaRPr lang="en-US" sz="9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315" y="1658064"/>
            <a:ext cx="3244215" cy="324421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920490" y="5226248"/>
            <a:ext cx="194464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Exemplo de Pontuação: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920490" y="5676067"/>
            <a:ext cx="1581626" cy="407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3920490" y="6237565"/>
            <a:ext cx="1581626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Login Diário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920490" y="6514624"/>
            <a:ext cx="1581626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Pontos por acessar a plataforma todos os dias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56421" y="5676067"/>
            <a:ext cx="1581626" cy="407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10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5656421" y="6237565"/>
            <a:ext cx="1581626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Curso Concluído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656421" y="6514624"/>
            <a:ext cx="1581626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Pontos por finalizar um curso completo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392353" y="5676067"/>
            <a:ext cx="1581626" cy="407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30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7392353" y="6237565"/>
            <a:ext cx="1581626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Trilha Completa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392353" y="6514624"/>
            <a:ext cx="1581626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Pontos por concluir uma trilha de aprendizagem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128284" y="5676067"/>
            <a:ext cx="1581626" cy="407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5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9128284" y="6237565"/>
            <a:ext cx="1581626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Participação em Fórum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9128284" y="6717625"/>
            <a:ext cx="1581626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Pontos por contribuir em discussões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920490" y="7297817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Administração: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920490" y="7685961"/>
            <a:ext cx="678942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Admin define eventos e recompensas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920490" y="7926586"/>
            <a:ext cx="678942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Exibição para alunos e rankings visíveis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1559" y="341352"/>
            <a:ext cx="531947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Cronograma de Implementação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7307580" y="997982"/>
            <a:ext cx="15240" cy="5632252"/>
          </a:xfrm>
          <a:prstGeom prst="roundRect">
            <a:avLst>
              <a:gd name="adj" fmla="val 342101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818531" y="1129903"/>
            <a:ext cx="372308" cy="15240"/>
          </a:xfrm>
          <a:prstGeom prst="roundRect">
            <a:avLst>
              <a:gd name="adj" fmla="val 342101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175599" y="997982"/>
            <a:ext cx="279202" cy="279202"/>
          </a:xfrm>
          <a:prstGeom prst="roundRect">
            <a:avLst>
              <a:gd name="adj" fmla="val 18673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217152" y="1015067"/>
            <a:ext cx="19597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14913" y="1040606"/>
            <a:ext cx="1679734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Mapeamento: 3 dias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01559" y="1319213"/>
            <a:ext cx="2793087" cy="397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Levantamento de requisitos e planejamento inicial.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39561" y="1874639"/>
            <a:ext cx="372308" cy="15240"/>
          </a:xfrm>
          <a:prstGeom prst="roundRect">
            <a:avLst>
              <a:gd name="adj" fmla="val 342101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175599" y="1742718"/>
            <a:ext cx="279202" cy="279202"/>
          </a:xfrm>
          <a:prstGeom prst="roundRect">
            <a:avLst>
              <a:gd name="adj" fmla="val 18673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217152" y="1759803"/>
            <a:ext cx="19597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35754" y="1785342"/>
            <a:ext cx="2793087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Ambiente de homologação: 2 dias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35754" y="2268141"/>
            <a:ext cx="2793087" cy="397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Configuração do ambiente de testes para validação.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8531" y="2516505"/>
            <a:ext cx="372308" cy="15240"/>
          </a:xfrm>
          <a:prstGeom prst="roundRect">
            <a:avLst>
              <a:gd name="adj" fmla="val 342101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175599" y="2384584"/>
            <a:ext cx="279202" cy="279202"/>
          </a:xfrm>
          <a:prstGeom prst="roundRect">
            <a:avLst>
              <a:gd name="adj" fmla="val 18673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217152" y="2401669"/>
            <a:ext cx="19597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5855" y="2427208"/>
            <a:ext cx="1758791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Carga de dados: 1 dia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901559" y="2705814"/>
            <a:ext cx="2793087" cy="397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Importação dos dados dos colaboradores para a plataforma.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39561" y="3158490"/>
            <a:ext cx="372308" cy="15240"/>
          </a:xfrm>
          <a:prstGeom prst="roundRect">
            <a:avLst>
              <a:gd name="adj" fmla="val 342101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175599" y="3026569"/>
            <a:ext cx="279202" cy="279202"/>
          </a:xfrm>
          <a:prstGeom prst="roundRect">
            <a:avLst>
              <a:gd name="adj" fmla="val 18673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217152" y="3043654"/>
            <a:ext cx="19597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35754" y="3069193"/>
            <a:ext cx="1633299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Portais: 5 dias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35754" y="3347799"/>
            <a:ext cx="2793087" cy="397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Estruturação e configuração dos portais temáticos.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18531" y="3800475"/>
            <a:ext cx="372308" cy="15240"/>
          </a:xfrm>
          <a:prstGeom prst="roundRect">
            <a:avLst>
              <a:gd name="adj" fmla="val 342101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175599" y="3668554"/>
            <a:ext cx="279202" cy="279202"/>
          </a:xfrm>
          <a:prstGeom prst="roundRect">
            <a:avLst>
              <a:gd name="adj" fmla="val 18673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217152" y="3685639"/>
            <a:ext cx="19597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61347" y="3711178"/>
            <a:ext cx="1633299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Trilhas: 7 dias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901559" y="3989784"/>
            <a:ext cx="2793087" cy="397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Criação e configuração das trilhas de aprendizagem.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39561" y="4442460"/>
            <a:ext cx="372308" cy="15240"/>
          </a:xfrm>
          <a:prstGeom prst="roundRect">
            <a:avLst>
              <a:gd name="adj" fmla="val 342101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7175599" y="4310539"/>
            <a:ext cx="279202" cy="279202"/>
          </a:xfrm>
          <a:prstGeom prst="roundRect">
            <a:avLst>
              <a:gd name="adj" fmla="val 18673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7217152" y="4327624"/>
            <a:ext cx="19597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935754" y="4353163"/>
            <a:ext cx="1633299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Testes: 5 dias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935754" y="4631769"/>
            <a:ext cx="2793087" cy="397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Validação completa de todas as funcionalidades.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18531" y="5084445"/>
            <a:ext cx="372308" cy="15240"/>
          </a:xfrm>
          <a:prstGeom prst="roundRect">
            <a:avLst>
              <a:gd name="adj" fmla="val 342101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7175599" y="4952524"/>
            <a:ext cx="279202" cy="279202"/>
          </a:xfrm>
          <a:prstGeom prst="roundRect">
            <a:avLst>
              <a:gd name="adj" fmla="val 18673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217152" y="4969609"/>
            <a:ext cx="19597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060156" y="4995148"/>
            <a:ext cx="1634490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Treinamento: 3 dias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901559" y="5273754"/>
            <a:ext cx="2793087" cy="397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Capacitação dos administradores e professores.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39561" y="5726430"/>
            <a:ext cx="372308" cy="15240"/>
          </a:xfrm>
          <a:prstGeom prst="roundRect">
            <a:avLst>
              <a:gd name="adj" fmla="val 342101"/>
            </a:avLst>
          </a:prstGeom>
          <a:solidFill>
            <a:srgbClr val="DFB8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7175599" y="5594509"/>
            <a:ext cx="279202" cy="279202"/>
          </a:xfrm>
          <a:prstGeom prst="roundRect">
            <a:avLst>
              <a:gd name="adj" fmla="val 18673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7217152" y="5611594"/>
            <a:ext cx="195977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935754" y="5637133"/>
            <a:ext cx="1633299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Go Live: 1 dia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935754" y="5915739"/>
            <a:ext cx="2793087" cy="397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Lançamento oficial da plataforma para todos os usuários.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901559" y="6816328"/>
            <a:ext cx="1633299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Gamificação: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901559" y="7206615"/>
            <a:ext cx="6827282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Configuração: 3 dias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901559" y="7448550"/>
            <a:ext cx="6827282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Testes: 2 dias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901559" y="7690485"/>
            <a:ext cx="6827282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Comunicação: 1 dia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0490" y="358735"/>
            <a:ext cx="3248501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Checklist Final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3920490" y="1196697"/>
            <a:ext cx="3333036" cy="1316831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920490" y="1181457"/>
            <a:ext cx="3333036" cy="60960"/>
          </a:xfrm>
          <a:prstGeom prst="roundRect">
            <a:avLst>
              <a:gd name="adj" fmla="val 85050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01866" y="1011555"/>
            <a:ext cx="370284" cy="370284"/>
          </a:xfrm>
          <a:prstGeom prst="roundRect">
            <a:avLst>
              <a:gd name="adj" fmla="val 246946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512951" y="1104067"/>
            <a:ext cx="148114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59079" y="1505307"/>
            <a:ext cx="204823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Carga de dados validada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59079" y="1782366"/>
            <a:ext cx="3055858" cy="59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Verificar se todos os dados dos colaboradores foram importados corretamente e estão consistentes.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76874" y="1196697"/>
            <a:ext cx="3333036" cy="1316831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376874" y="1181457"/>
            <a:ext cx="3333036" cy="60960"/>
          </a:xfrm>
          <a:prstGeom prst="roundRect">
            <a:avLst>
              <a:gd name="adj" fmla="val 85050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858250" y="1011555"/>
            <a:ext cx="370284" cy="370284"/>
          </a:xfrm>
          <a:prstGeom prst="roundRect">
            <a:avLst>
              <a:gd name="adj" fmla="val 246946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969335" y="1104067"/>
            <a:ext cx="148114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515463" y="1505307"/>
            <a:ext cx="2499479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Trilhas por perfil configuradas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15463" y="1782366"/>
            <a:ext cx="3055858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Confirmar que as trilhas de aprendizagem estão corretamente associadas aos perfis de usuários.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20490" y="2822019"/>
            <a:ext cx="3333036" cy="1316831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920490" y="2806779"/>
            <a:ext cx="3333036" cy="60960"/>
          </a:xfrm>
          <a:prstGeom prst="roundRect">
            <a:avLst>
              <a:gd name="adj" fmla="val 85050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401866" y="2636877"/>
            <a:ext cx="370284" cy="370284"/>
          </a:xfrm>
          <a:prstGeom prst="roundRect">
            <a:avLst>
              <a:gd name="adj" fmla="val 246946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512951" y="2729389"/>
            <a:ext cx="148114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059079" y="3130629"/>
            <a:ext cx="1816060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Certificados testados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059079" y="3407688"/>
            <a:ext cx="3055858" cy="59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Validar a emissão de certificados e verificar se todos os elementos estão sendo exibidos corretamente.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76874" y="2822019"/>
            <a:ext cx="3333036" cy="1316831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376874" y="2806779"/>
            <a:ext cx="3333036" cy="60960"/>
          </a:xfrm>
          <a:prstGeom prst="roundRect">
            <a:avLst>
              <a:gd name="adj" fmla="val 85050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8858250" y="2636877"/>
            <a:ext cx="370284" cy="370284"/>
          </a:xfrm>
          <a:prstGeom prst="roundRect">
            <a:avLst>
              <a:gd name="adj" fmla="val 246946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8969335" y="2729389"/>
            <a:ext cx="148114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4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515463" y="3130629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Portais finalizados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15463" y="3407688"/>
            <a:ext cx="3055858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Confirmar que todos os portais temáticos estão completos e funcionando adequadamente.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20490" y="4462820"/>
            <a:ext cx="3333036" cy="1119307"/>
          </a:xfrm>
          <a:prstGeom prst="roundRect">
            <a:avLst>
              <a:gd name="adj" fmla="val 65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3920490" y="4447580"/>
            <a:ext cx="3333036" cy="60960"/>
          </a:xfrm>
          <a:prstGeom prst="roundRect">
            <a:avLst>
              <a:gd name="adj" fmla="val 85050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5401866" y="4277678"/>
            <a:ext cx="370284" cy="370284"/>
          </a:xfrm>
          <a:prstGeom prst="roundRect">
            <a:avLst>
              <a:gd name="adj" fmla="val 246946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512951" y="4370189"/>
            <a:ext cx="148114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059079" y="4771430"/>
            <a:ext cx="1936909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Treinamento concluído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059079" y="5048488"/>
            <a:ext cx="3055858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Verificar se todos os administradores e professores foram devidamente capacitados.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76874" y="4462820"/>
            <a:ext cx="3333036" cy="1119307"/>
          </a:xfrm>
          <a:prstGeom prst="roundRect">
            <a:avLst>
              <a:gd name="adj" fmla="val 65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7376874" y="4447580"/>
            <a:ext cx="3333036" cy="60960"/>
          </a:xfrm>
          <a:prstGeom prst="roundRect">
            <a:avLst>
              <a:gd name="adj" fmla="val 85050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8858250" y="4277678"/>
            <a:ext cx="370284" cy="370284"/>
          </a:xfrm>
          <a:prstGeom prst="roundRect">
            <a:avLst>
              <a:gd name="adj" fmla="val 246946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8969335" y="4370189"/>
            <a:ext cx="148114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515463" y="4771430"/>
            <a:ext cx="290381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Acesso testado por todos os perfis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15463" y="5048488"/>
            <a:ext cx="3055858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Confirmar que todos os níveis de acesso estão funcionando conforme esperado.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920490" y="5890617"/>
            <a:ext cx="3333036" cy="1119307"/>
          </a:xfrm>
          <a:prstGeom prst="roundRect">
            <a:avLst>
              <a:gd name="adj" fmla="val 65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3920490" y="5875377"/>
            <a:ext cx="3333036" cy="60960"/>
          </a:xfrm>
          <a:prstGeom prst="roundRect">
            <a:avLst>
              <a:gd name="adj" fmla="val 85050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5401866" y="5705475"/>
            <a:ext cx="370284" cy="370284"/>
          </a:xfrm>
          <a:prstGeom prst="roundRect">
            <a:avLst>
              <a:gd name="adj" fmla="val 246946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5512951" y="5797987"/>
            <a:ext cx="148114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3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059079" y="6199227"/>
            <a:ext cx="284678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Comunicação de lançamento feita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059079" y="6476286"/>
            <a:ext cx="3055858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Garantir que todos os usuários foram informados sobre o lançamento da plataforma.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376874" y="5890617"/>
            <a:ext cx="3333036" cy="1119307"/>
          </a:xfrm>
          <a:prstGeom prst="roundRect">
            <a:avLst>
              <a:gd name="adj" fmla="val 65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7376874" y="5875377"/>
            <a:ext cx="3333036" cy="60960"/>
          </a:xfrm>
          <a:prstGeom prst="roundRect">
            <a:avLst>
              <a:gd name="adj" fmla="val 85050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8858250" y="5705475"/>
            <a:ext cx="370284" cy="370284"/>
          </a:xfrm>
          <a:prstGeom prst="roundRect">
            <a:avLst>
              <a:gd name="adj" fmla="val 246946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8969335" y="5797987"/>
            <a:ext cx="148114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4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515463" y="6199227"/>
            <a:ext cx="2301240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Gamificação ativa e testada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7515463" y="6476286"/>
            <a:ext cx="3055858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Verificar se os elementos de gamificação estão funcionando corretamente.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920490" y="7148751"/>
            <a:ext cx="6789420" cy="721995"/>
          </a:xfrm>
          <a:prstGeom prst="roundRect">
            <a:avLst>
              <a:gd name="adj" fmla="val 7181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839" y="7332107"/>
            <a:ext cx="154305" cy="123349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4321493" y="7302937"/>
            <a:ext cx="6265069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É fundamental que todos os itens do checklist sejam verificados antes do lançamento oficial da plataforma para evitar problemas durante a utilização pelos usuários finais.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0816" y="364331"/>
            <a:ext cx="7288768" cy="87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Treinamento de Administradores e Professores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670816" y="1289090"/>
            <a:ext cx="1743670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Objetivo: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670816" y="1705808"/>
            <a:ext cx="728876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Navegar, cadastrar conteúdos, acompanhar alunos, gerar relatórios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70816" y="2116455"/>
            <a:ext cx="1743670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Roteiro: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70816" y="2533174"/>
            <a:ext cx="530066" cy="795099"/>
          </a:xfrm>
          <a:prstGeom prst="roundRect">
            <a:avLst>
              <a:gd name="adj" fmla="val 36002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6432" y="2831306"/>
            <a:ext cx="198715" cy="1987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33399" y="2665690"/>
            <a:ext cx="1828681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Introdução ao Portal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333399" y="2963108"/>
            <a:ext cx="662618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Visão geral da plataforma, navegação básica e principais funcionalidades.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70816" y="3460790"/>
            <a:ext cx="530066" cy="795099"/>
          </a:xfrm>
          <a:prstGeom prst="roundRect">
            <a:avLst>
              <a:gd name="adj" fmla="val 36002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6432" y="3758922"/>
            <a:ext cx="198715" cy="1987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33399" y="3593306"/>
            <a:ext cx="2534722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Administração de Conteúdo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333399" y="3890724"/>
            <a:ext cx="662618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Como criar, editar e gerenciar cursos, trilhas e materiais didáticos.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70816" y="4388406"/>
            <a:ext cx="530066" cy="795099"/>
          </a:xfrm>
          <a:prstGeom prst="roundRect">
            <a:avLst>
              <a:gd name="adj" fmla="val 36002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36432" y="4686538"/>
            <a:ext cx="198715" cy="1987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33399" y="4520922"/>
            <a:ext cx="1743670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Gestão de Usuários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333399" y="4818340"/>
            <a:ext cx="662618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Cadastro, edição e gerenciamento de perfis e permissões.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70816" y="5316022"/>
            <a:ext cx="530066" cy="795099"/>
          </a:xfrm>
          <a:prstGeom prst="roundRect">
            <a:avLst>
              <a:gd name="adj" fmla="val 36002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36432" y="5614154"/>
            <a:ext cx="198715" cy="19871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33399" y="5448538"/>
            <a:ext cx="2180273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Relatórios e Indicadores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333399" y="5745956"/>
            <a:ext cx="662618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Como gerar e interpretar relatórios de desempenho e participação.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670816" y="6243638"/>
            <a:ext cx="530066" cy="795099"/>
          </a:xfrm>
          <a:prstGeom prst="roundRect">
            <a:avLst>
              <a:gd name="adj" fmla="val 36002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36432" y="6541770"/>
            <a:ext cx="198715" cy="19871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333399" y="6376154"/>
            <a:ext cx="1743670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Suporte ao Aluno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4333399" y="6673572"/>
            <a:ext cx="662618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Ferramentas e práticas para auxiliar os alunos durante o aprendizado.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3670816" y="7237452"/>
            <a:ext cx="1743670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Metodologia: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3670816" y="7654171"/>
            <a:ext cx="728876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Aula prática em ambiente de testes, PDF com instruções e apoio pós-treinamento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0490" y="339447"/>
            <a:ext cx="5572720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Detalhamento da Carga de Dados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920490" y="1053941"/>
            <a:ext cx="188237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Processo de Validação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920490" y="1380292"/>
            <a:ext cx="3244215" cy="59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Antes de realizar a carga definitiva, é essencial validar a qualidade dos dados a serem importados. Isso inclui verificar: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920490" y="2083951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Formatação correta dos campos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920490" y="2324576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Ausência de duplicidades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920490" y="2565202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Completude das informações obrigatórias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20490" y="2805827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Consistência entre diferentes fontes</a:t>
            </a:r>
            <a:endParaRPr lang="en-US" sz="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315" y="1069419"/>
            <a:ext cx="3244215" cy="32442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20490" y="4637603"/>
            <a:ext cx="2322790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Estrutura da Planilha Padrão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920490" y="5025747"/>
            <a:ext cx="6789420" cy="3297317"/>
          </a:xfrm>
          <a:prstGeom prst="roundRect">
            <a:avLst>
              <a:gd name="adj" fmla="val 157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928110" y="5033367"/>
            <a:ext cx="6774180" cy="3608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051459" y="5115044"/>
            <a:ext cx="14430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Campo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48814" y="5115044"/>
            <a:ext cx="143922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Formato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442359" y="5115044"/>
            <a:ext cx="143922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Obrigatório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135904" y="5115044"/>
            <a:ext cx="14430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Exemplo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928110" y="5394246"/>
            <a:ext cx="6774180" cy="3608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051459" y="5475923"/>
            <a:ext cx="14430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Matrícula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748814" y="5475923"/>
            <a:ext cx="143922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Alfanumérico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442359" y="5475923"/>
            <a:ext cx="143922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Sim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135904" y="5475923"/>
            <a:ext cx="14430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EMP12345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928110" y="5755124"/>
            <a:ext cx="6774180" cy="3608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4051459" y="5836801"/>
            <a:ext cx="14430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Nome Completo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748814" y="5836801"/>
            <a:ext cx="143922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Texto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442359" y="5836801"/>
            <a:ext cx="143922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Sim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9135904" y="5836801"/>
            <a:ext cx="14430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João Silva Santos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928110" y="6116003"/>
            <a:ext cx="6774180" cy="5584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4051459" y="6197679"/>
            <a:ext cx="14430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E-mail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748814" y="6197679"/>
            <a:ext cx="143922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texto@dominio.com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442359" y="6197679"/>
            <a:ext cx="143922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Sim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9135904" y="6197679"/>
            <a:ext cx="1443038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joao.silva@empresa.com.br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928110" y="6674406"/>
            <a:ext cx="6774180" cy="3608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4051459" y="6756083"/>
            <a:ext cx="14430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Cargo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748814" y="6756083"/>
            <a:ext cx="143922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Texto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442359" y="6756083"/>
            <a:ext cx="143922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Sim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135904" y="6756083"/>
            <a:ext cx="14430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Analista de Sistemas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928110" y="7035284"/>
            <a:ext cx="6774180" cy="3608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5"/>
          <p:cNvSpPr/>
          <p:nvPr/>
        </p:nvSpPr>
        <p:spPr>
          <a:xfrm>
            <a:off x="4051459" y="7116961"/>
            <a:ext cx="14430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Lotação/Unidade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748814" y="7116961"/>
            <a:ext cx="143922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Texto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442359" y="7116961"/>
            <a:ext cx="143922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Sim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9135904" y="7116961"/>
            <a:ext cx="14430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Filial São Paulo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3928110" y="7396163"/>
            <a:ext cx="6774180" cy="5584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4051459" y="7477839"/>
            <a:ext cx="14430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Área/Departamento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748814" y="7477839"/>
            <a:ext cx="143922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Texto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7442359" y="7477839"/>
            <a:ext cx="143922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Sim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9135904" y="7477839"/>
            <a:ext cx="1443038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Tecnologia da Informação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3928110" y="7954566"/>
            <a:ext cx="6774180" cy="3608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5"/>
          <p:cNvSpPr/>
          <p:nvPr/>
        </p:nvSpPr>
        <p:spPr>
          <a:xfrm>
            <a:off x="4051459" y="8036243"/>
            <a:ext cx="14430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Perfil de Acesso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5748814" y="8036243"/>
            <a:ext cx="143922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Texto (predefinido)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7442359" y="8036243"/>
            <a:ext cx="143922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Sim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9135904" y="8036243"/>
            <a:ext cx="14430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Aluno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3920490" y="8461891"/>
            <a:ext cx="6789420" cy="721995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839" y="8645247"/>
            <a:ext cx="154305" cy="123349"/>
          </a:xfrm>
          <a:prstGeom prst="rect">
            <a:avLst/>
          </a:prstGeom>
        </p:spPr>
      </p:pic>
      <p:sp>
        <p:nvSpPr>
          <p:cNvPr id="54" name="Text 50"/>
          <p:cNvSpPr/>
          <p:nvPr/>
        </p:nvSpPr>
        <p:spPr>
          <a:xfrm>
            <a:off x="4321493" y="8616077"/>
            <a:ext cx="6265069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plataforma Didaxis oferece um modelo de planilha para download, facilitando a organização dos dados antes da importação.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0490" y="339447"/>
            <a:ext cx="62655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Personalização dos Portais Temáticos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920490" y="992267"/>
            <a:ext cx="6789420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Cada portal temático pode ser personalizado de acordo com as necessidades específicas do departamento ou área de atuação. A customização inclui: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920490" y="1526143"/>
            <a:ext cx="2180868" cy="1458397"/>
          </a:xfrm>
          <a:prstGeom prst="roundRect">
            <a:avLst>
              <a:gd name="adj" fmla="val 3555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051459" y="1657112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Identidade Visual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51459" y="1934170"/>
            <a:ext cx="191893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Cores institucionais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051459" y="2174796"/>
            <a:ext cx="191893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Logotipos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51459" y="2415421"/>
            <a:ext cx="191893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Banners personalizados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051459" y="2656046"/>
            <a:ext cx="191893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Ícones temáticos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24707" y="1526143"/>
            <a:ext cx="2180868" cy="1458397"/>
          </a:xfrm>
          <a:prstGeom prst="roundRect">
            <a:avLst>
              <a:gd name="adj" fmla="val 3555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355675" y="1657112"/>
            <a:ext cx="188833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Estrutura de Conteúdo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55675" y="1934170"/>
            <a:ext cx="191893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Organização por categorias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5675" y="2174796"/>
            <a:ext cx="191893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Destaques específicos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5675" y="2415421"/>
            <a:ext cx="191893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Widgets personalizados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5675" y="2656046"/>
            <a:ext cx="191893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Menus adaptados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28923" y="1526143"/>
            <a:ext cx="2180987" cy="1458397"/>
          </a:xfrm>
          <a:prstGeom prst="roundRect">
            <a:avLst>
              <a:gd name="adj" fmla="val 3555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659892" y="1657112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Funcionalidades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59892" y="1934170"/>
            <a:ext cx="1919049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Ferramentas específicas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59892" y="2174796"/>
            <a:ext cx="1919049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Relatórios customizados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59892" y="2415421"/>
            <a:ext cx="1919049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Integrações dedicadas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59892" y="2656046"/>
            <a:ext cx="1919049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Fluxos de trabalho próprios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20490" y="3169682"/>
            <a:ext cx="310205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Exemplos de Personalização por Área</a:t>
            </a:r>
            <a:endParaRPr lang="en-US" sz="12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490" y="3557826"/>
            <a:ext cx="6789420" cy="380202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3920490" y="7498675"/>
            <a:ext cx="6789420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 gráfico acima demonstra o nível médio de personalização aplicado em cada tipo de portal temático, refletindo as necessidades específicas de cada área.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0490" y="339447"/>
            <a:ext cx="6789420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Detalhamento das Trilhas de Aprendizagem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920490" y="1398270"/>
            <a:ext cx="6789420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 trilhas de aprendizagem são sequências estruturadas de conteúdos que guiam o aluno em uma jornada de conhecimento. Na plataforma Didaxis, elas podem ser configuradas de diversas formas: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920490" y="2055495"/>
            <a:ext cx="1809869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Tipos de Estruturação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920490" y="2381845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Linear: conteúdos em sequência obrigatória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920490" y="2622471"/>
            <a:ext cx="3244215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Ramificada: caminhos alternativos baseados em escolhas ou desempenho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920490" y="3060621"/>
            <a:ext cx="3244215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Modular: blocos independentes que podem ser cursados em qualquer ordem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20490" y="3498771"/>
            <a:ext cx="3244215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Adaptativa: conteúdos que se ajustam ao desempenho do aluno</a:t>
            </a:r>
            <a:endParaRPr lang="en-US" sz="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315" y="2070973"/>
            <a:ext cx="3244215" cy="32442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20490" y="5639157"/>
            <a:ext cx="3523059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Exemplo de Trilha para Perfil de Atendente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920490" y="6212443"/>
            <a:ext cx="3333036" cy="123349"/>
          </a:xfrm>
          <a:prstGeom prst="roundRect">
            <a:avLst>
              <a:gd name="adj" fmla="val 4203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043839" y="6459141"/>
            <a:ext cx="253424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Fundamentos de Atendimento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043839" y="6736199"/>
            <a:ext cx="3086338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Conceitos básicos e princípios de excelência no atendimento ao cliente.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043839" y="7205305"/>
            <a:ext cx="30863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Vídeo introdutório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043839" y="7445931"/>
            <a:ext cx="30863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Quiz de conceitos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043839" y="7686556"/>
            <a:ext cx="30863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Caso prático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376874" y="6027301"/>
            <a:ext cx="3333036" cy="123349"/>
          </a:xfrm>
          <a:prstGeom prst="roundRect">
            <a:avLst>
              <a:gd name="adj" fmla="val 4203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7500223" y="6273998"/>
            <a:ext cx="217253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Técnicas de Comunicação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500223" y="6551057"/>
            <a:ext cx="3086338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Habilidades de comunicação verbal e escrita para atendimento eficaz.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500223" y="7020163"/>
            <a:ext cx="30863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Curso SCORM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500223" y="7260788"/>
            <a:ext cx="30863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Exercícios práticos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500223" y="7501414"/>
            <a:ext cx="30863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Avaliação de diálogos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920490" y="8315920"/>
            <a:ext cx="3333036" cy="123349"/>
          </a:xfrm>
          <a:prstGeom prst="roundRect">
            <a:avLst>
              <a:gd name="adj" fmla="val 4203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4043839" y="8562618"/>
            <a:ext cx="166389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Gestão de Conflitos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043839" y="8839676"/>
            <a:ext cx="3086338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Estratégias para lidar com situações difíceis e clientes insatisfeitos.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043839" y="9308783"/>
            <a:ext cx="30863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Artigos especializados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043839" y="9549408"/>
            <a:ext cx="30863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Simulações de atendimento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043839" y="9790033"/>
            <a:ext cx="30863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Fórum de discussão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376874" y="8130778"/>
            <a:ext cx="3333036" cy="123349"/>
          </a:xfrm>
          <a:prstGeom prst="roundRect">
            <a:avLst>
              <a:gd name="adj" fmla="val 4203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7500223" y="8377476"/>
            <a:ext cx="2468880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Compliance e Procedimentos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500223" y="8654534"/>
            <a:ext cx="3086338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Normas regulatórias e procedimentos internos que devem ser seguidos.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500223" y="9123640"/>
            <a:ext cx="30863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PDF com manual de procedimentos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500223" y="9364266"/>
            <a:ext cx="30863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Teste de conhecimento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500223" y="9604891"/>
            <a:ext cx="308633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Certificação final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920490" y="10249733"/>
            <a:ext cx="6789420" cy="721995"/>
          </a:xfrm>
          <a:prstGeom prst="roundRect">
            <a:avLst>
              <a:gd name="adj" fmla="val 7181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839" y="10433090"/>
            <a:ext cx="154305" cy="123349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4321493" y="10403919"/>
            <a:ext cx="6265069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 trilhas podem ser atualizadas continuamente com novos conteúdos, mantendo o material sempre relevante e atualizado.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0490" y="339447"/>
            <a:ext cx="5390198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Suporte e Manutenção Contínua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920490" y="992267"/>
            <a:ext cx="6789420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Após a implementação da plataforma Didaxis, é fundamental estabelecer processos de suporte e manutenção para garantir seu funcionamento contínuo e eficaz.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317683" y="1526143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Monitoramento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920490" y="1803202"/>
            <a:ext cx="2021443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Acompanhamento constante do desempenho da plataforma, identificando possíveis problemas antes que afetem os usuários.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075" y="1596509"/>
            <a:ext cx="2376249" cy="2376249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44533" y="2011680"/>
            <a:ext cx="184666" cy="1846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8467" y="1624846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Atualizações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688467" y="1901904"/>
            <a:ext cx="202144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Implementação regular de melhorias e novas funcionalidades para manter a plataforma atualizada.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7075" y="1596509"/>
            <a:ext cx="2376249" cy="2376249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03250" y="2213967"/>
            <a:ext cx="184666" cy="18466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8467" y="2975967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Suporte Técnico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8688467" y="3253026"/>
            <a:ext cx="202144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Atendimento aos usuários para resolução de dúvidas e problemas técnicos durante a utilização.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7075" y="1596509"/>
            <a:ext cx="2376249" cy="2376249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00963" y="3372683"/>
            <a:ext cx="184666" cy="18466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317683" y="2975967"/>
            <a:ext cx="1624251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Feedback</a:t>
            </a:r>
            <a:endParaRPr lang="en-US" sz="1250" dirty="0"/>
          </a:p>
        </p:txBody>
      </p:sp>
      <p:sp>
        <p:nvSpPr>
          <p:cNvPr id="17" name="Text 9"/>
          <p:cNvSpPr/>
          <p:nvPr/>
        </p:nvSpPr>
        <p:spPr>
          <a:xfrm>
            <a:off x="3920490" y="3253026"/>
            <a:ext cx="202144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Coleta e análise de opiniões dos usuários para identificar pontos de melhoria e novas necessidades.</a:t>
            </a:r>
            <a:endParaRPr lang="en-US" sz="9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7075" y="1596509"/>
            <a:ext cx="2376249" cy="2376249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42246" y="3170396"/>
            <a:ext cx="184666" cy="184666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920490" y="4228267"/>
            <a:ext cx="254924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Canais de Suporte Disponíveis</a:t>
            </a:r>
            <a:endParaRPr lang="en-US" sz="1250" dirty="0"/>
          </a:p>
        </p:txBody>
      </p:sp>
      <p:sp>
        <p:nvSpPr>
          <p:cNvPr id="21" name="Text 11"/>
          <p:cNvSpPr/>
          <p:nvPr/>
        </p:nvSpPr>
        <p:spPr>
          <a:xfrm>
            <a:off x="3920490" y="4727496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Chat ao vivo dentro da plataforma</a:t>
            </a:r>
            <a:endParaRPr lang="en-US" sz="950" dirty="0"/>
          </a:p>
        </p:txBody>
      </p:sp>
      <p:sp>
        <p:nvSpPr>
          <p:cNvPr id="22" name="Text 12"/>
          <p:cNvSpPr/>
          <p:nvPr/>
        </p:nvSpPr>
        <p:spPr>
          <a:xfrm>
            <a:off x="3920490" y="4968121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Sistema de tickets para problemas técnicos</a:t>
            </a:r>
            <a:endParaRPr lang="en-US" sz="950" dirty="0"/>
          </a:p>
        </p:txBody>
      </p:sp>
      <p:sp>
        <p:nvSpPr>
          <p:cNvPr id="23" name="Text 13"/>
          <p:cNvSpPr/>
          <p:nvPr/>
        </p:nvSpPr>
        <p:spPr>
          <a:xfrm>
            <a:off x="3920490" y="5208746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Base de conhecimento com tutoriais e FAQs</a:t>
            </a:r>
            <a:endParaRPr lang="en-US" sz="950" dirty="0"/>
          </a:p>
        </p:txBody>
      </p:sp>
      <p:sp>
        <p:nvSpPr>
          <p:cNvPr id="24" name="Text 14"/>
          <p:cNvSpPr/>
          <p:nvPr/>
        </p:nvSpPr>
        <p:spPr>
          <a:xfrm>
            <a:off x="3920490" y="5449372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Suporte telefônico em horário comercial</a:t>
            </a:r>
            <a:endParaRPr lang="en-US" sz="950" dirty="0"/>
          </a:p>
        </p:txBody>
      </p:sp>
      <p:sp>
        <p:nvSpPr>
          <p:cNvPr id="25" name="Text 15"/>
          <p:cNvSpPr/>
          <p:nvPr/>
        </p:nvSpPr>
        <p:spPr>
          <a:xfrm>
            <a:off x="3920490" y="5689997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E-mail dedicado para questões administrativas</a:t>
            </a:r>
            <a:endParaRPr lang="en-US" sz="950" dirty="0"/>
          </a:p>
        </p:txBody>
      </p:sp>
      <p:sp>
        <p:nvSpPr>
          <p:cNvPr id="26" name="Text 16"/>
          <p:cNvSpPr/>
          <p:nvPr/>
        </p:nvSpPr>
        <p:spPr>
          <a:xfrm>
            <a:off x="3920490" y="5930622"/>
            <a:ext cx="3244215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Webinars mensais de atualização</a:t>
            </a:r>
            <a:endParaRPr lang="en-US" sz="9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73315" y="4755237"/>
            <a:ext cx="3244215" cy="3244215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3920490" y="8277106"/>
            <a:ext cx="6789420" cy="721995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43839" y="8460462"/>
            <a:ext cx="154305" cy="123349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4321493" y="8431292"/>
            <a:ext cx="6265069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equipe de suporte da Didaxis está disponível para auxiliar em todas as etapas do processo, desde a implementação inicial até a manutenção contínua da plataforma.</a:t>
            </a:r>
            <a:endParaRPr lang="en-US" sz="950" dirty="0"/>
          </a:p>
        </p:txBody>
      </p:sp>
      <p:sp>
        <p:nvSpPr>
          <p:cNvPr id="31" name="Text 19"/>
          <p:cNvSpPr/>
          <p:nvPr/>
        </p:nvSpPr>
        <p:spPr>
          <a:xfrm>
            <a:off x="3920490" y="9137928"/>
            <a:ext cx="6789420" cy="59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 um plano adequado de suporte e manutenção, a plataforma Didaxis continuará oferecendo uma experiência de aprendizado eficiente e atualizada para todos os usuários, maximizando o retorno sobre o investimento em treinamento e desenvolvimento.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1767</Words>
  <Application>Microsoft Office PowerPoint</Application>
  <PresentationFormat>Personalizar</PresentationFormat>
  <Paragraphs>360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Arial</vt:lpstr>
      <vt:lpstr>Sora Semi Bold</vt:lpstr>
      <vt:lpstr>Sora</vt:lpstr>
      <vt:lpstr>Sora Light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Andre Luiz Zambrini</cp:lastModifiedBy>
  <cp:revision>3</cp:revision>
  <dcterms:created xsi:type="dcterms:W3CDTF">2026-01-24T16:09:45Z</dcterms:created>
  <dcterms:modified xsi:type="dcterms:W3CDTF">2026-01-24T16:13:26Z</dcterms:modified>
</cp:coreProperties>
</file>